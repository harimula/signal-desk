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4b77ff3c-088c-72db-aca6-862d087a6c25}">
          <p14:sldIdLst>
            <p14:sldId id="256"/>
            <p14:sldId id="257"/>
          </p14:sldIdLst>
        </p14:section>
        <p14:section name="Architecture" id="{cfa1b04d-97f4-dc50-b29d-666b9f20cc71}">
          <p14:sldIdLst>
            <p14:sldId id="258"/>
            <p14:sldId id="259"/>
            <p14:sldId id="260"/>
          </p14:sldIdLst>
        </p14:section>
        <p14:section name="Trading bot" id="{c2ad9da8-f638-1e05-8510-f7b03aaa3163}">
          <p14:sldIdLst>
            <p14:sldId id="261"/>
            <p14:sldId id="262"/>
            <p14:sldId id="263"/>
          </p14:sldIdLst>
        </p14:section>
        <p14:section name="Security &amp; operations" id="{a30499c2-dcd8-f5ed-8016-613c637db674}">
          <p14:sldIdLst>
            <p14:sldId id="264"/>
            <p14:sldId id="265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7202E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17202E"/>
                </a:solidFill>
                <a:latin typeface="+mn-lt"/>
              </a:rPr>
              <a:t>Out-of-sample yearly return, 2016–2026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OOS yearly return</c:v>
                </c:pt>
              </c:strCache>
            </c:strRef>
          </c:tx>
          <c:spPr>
            <a:solidFill>
              <a:srgbClr val="0E7C86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7202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E7C86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23A4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RSI-2 (chosen)</c:v>
                  </c:pt>
                  <c:pt idx="1">
                    <c:v>SPY buy &amp; hold</c:v>
                  </c:pt>
                  <c:pt idx="2">
                    <c:v>Trend breakout</c:v>
                  </c:pt>
                  <c:pt idx="3">
                    <c:v>Old intraday rules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16.4</c:v>
                </c:pt>
                <c:pt idx="1">
                  <c:v>13.3</c:v>
                </c:pt>
                <c:pt idx="2">
                  <c:v>7.2</c:v>
                </c:pt>
                <c:pt idx="3">
                  <c:v>-4.1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7202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02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3E7E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67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20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400" b="1" dirty="0">
                <a:solidFill>
                  <a:srgbClr val="FFFFFF"/>
                </a:solidFill>
              </a:defRPr>
            </a:lvl1pPr>
          </a:lstStyle>
          <a:p>
            <a:pPr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ADCE6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7202E"/>
                </a:solidFill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</a:rPr>
              <a:t>Signal Desk · system documentation v1.0 · 2026-10-21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Signal Desk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ADCE6"/>
                </a:solidFill>
              </a:rPr>
              <a:t>System architecture — website, data refresh, trading bot, research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E6"/>
                </a:solidFill>
              </a:rPr>
              <a:t>Version 1.1 · 2026-10-23 · updated with every change</a:t>
            </a:r>
            <a:endParaRPr lang="en-US" sz="2000" dirty="0"/>
          </a:p>
        </p:txBody>
      </p:sp>
      <p:sp>
        <p:nvSpPr>
          <p:cNvPr id="4" name="mark"/>
          <p:cNvSpPr/>
          <p:nvPr/>
        </p:nvSpPr>
        <p:spPr>
          <a:xfrm>
            <a:off x="9692640" y="914400"/>
            <a:ext cx="2011680" cy="201168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5" name="mark label"/>
          <p:cNvSpPr txBox="1"/>
          <p:nvPr/>
        </p:nvSpPr>
        <p:spPr>
          <a:xfrm>
            <a:off x="9692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RSI-2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Four parts, all on GitHub's free tier</a:t>
            </a:r>
            <a:endParaRPr lang="en-US" sz="3200" dirty="0"/>
          </a:p>
        </p:txBody>
      </p:sp>
      <p:sp>
        <p:nvSpPr>
          <p:cNvPr id="3" name="dot Website"/>
          <p:cNvSpPr/>
          <p:nvPr/>
        </p:nvSpPr>
        <p:spPr>
          <a:xfrm>
            <a:off x="640080" y="14630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4" name="n Website"/>
          <p:cNvSpPr txBox="1"/>
          <p:nvPr/>
        </p:nvSpPr>
        <p:spPr>
          <a:xfrm>
            <a:off x="64008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h Website"/>
          <p:cNvSpPr txBox="1"/>
          <p:nvPr/>
        </p:nvSpPr>
        <p:spPr>
          <a:xfrm>
            <a:off x="54864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2E"/>
                </a:solidFill>
              </a:rPr>
              <a:t>Website</a:t>
            </a:r>
            <a:endParaRPr lang="en-US" sz="2000" dirty="0"/>
          </a:p>
        </p:txBody>
      </p:sp>
      <p:sp>
        <p:nvSpPr>
          <p:cNvPr id="6" name="t Website"/>
          <p:cNvSpPr txBox="1"/>
          <p:nvPr/>
        </p:nvSpPr>
        <p:spPr>
          <a:xfrm>
            <a:off x="548640" y="2697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</a:rPr>
              <a:t>One static page: Signal Desk (stocks), Retirement and Rent vs EMI calculators. GitHub Pages.</a:t>
            </a:r>
            <a:endParaRPr lang="en-US" sz="1400" dirty="0"/>
          </a:p>
        </p:txBody>
      </p:sp>
      <p:sp>
        <p:nvSpPr>
          <p:cNvPr id="7" name="dot Data refresh"/>
          <p:cNvSpPr/>
          <p:nvPr/>
        </p:nvSpPr>
        <p:spPr>
          <a:xfrm>
            <a:off x="3474720" y="14630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8" name="n Data refresh"/>
          <p:cNvSpPr txBox="1"/>
          <p:nvPr/>
        </p:nvSpPr>
        <p:spPr>
          <a:xfrm>
            <a:off x="347472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h Data refresh"/>
          <p:cNvSpPr txBox="1"/>
          <p:nvPr/>
        </p:nvSpPr>
        <p:spPr>
          <a:xfrm>
            <a:off x="33832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2E"/>
                </a:solidFill>
              </a:rPr>
              <a:t>Data refresh</a:t>
            </a:r>
            <a:endParaRPr lang="en-US" sz="2000" dirty="0"/>
          </a:p>
        </p:txBody>
      </p:sp>
      <p:sp>
        <p:nvSpPr>
          <p:cNvPr id="10" name="t Data refresh"/>
          <p:cNvSpPr txBox="1"/>
          <p:nvPr/>
        </p:nvSpPr>
        <p:spPr>
          <a:xfrm>
            <a:off x="3383280" y="2697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</a:rPr>
              <a:t>GitHub Actions fetches prices and news every 10–15 min in market hours and commits them.</a:t>
            </a:r>
            <a:endParaRPr lang="en-US" sz="1400" dirty="0"/>
          </a:p>
        </p:txBody>
      </p:sp>
      <p:sp>
        <p:nvSpPr>
          <p:cNvPr id="11" name="dot Trading bot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2" name="n Trading bot"/>
          <p:cNvSpPr txBox="1"/>
          <p:nvPr/>
        </p:nvSpPr>
        <p:spPr>
          <a:xfrm>
            <a:off x="630936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h Trading bot"/>
          <p:cNvSpPr txBox="1"/>
          <p:nvPr/>
        </p:nvSpPr>
        <p:spPr>
          <a:xfrm>
            <a:off x="621792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2E"/>
                </a:solidFill>
              </a:rPr>
              <a:t>Trading bot</a:t>
            </a:r>
            <a:endParaRPr lang="en-US" sz="2000" dirty="0"/>
          </a:p>
        </p:txBody>
      </p:sp>
      <p:sp>
        <p:nvSpPr>
          <p:cNvPr id="14" name="t Trading bot"/>
          <p:cNvSpPr txBox="1"/>
          <p:nvPr/>
        </p:nvSpPr>
        <p:spPr>
          <a:xfrm>
            <a:off x="6217920" y="2697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</a:rPr>
              <a:t>Event-driven rules engine on an Alpaca account (paper by default), running on GitHub Actions.</a:t>
            </a:r>
            <a:endParaRPr lang="en-US" sz="1400" dirty="0"/>
          </a:p>
        </p:txBody>
      </p:sp>
      <p:sp>
        <p:nvSpPr>
          <p:cNvPr id="15" name="dot Research"/>
          <p:cNvSpPr/>
          <p:nvPr/>
        </p:nvSpPr>
        <p:spPr>
          <a:xfrm>
            <a:off x="9144000" y="1463040"/>
            <a:ext cx="548640" cy="54864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6" name="n Research"/>
          <p:cNvSpPr txBox="1"/>
          <p:nvPr/>
        </p:nvSpPr>
        <p:spPr>
          <a:xfrm>
            <a:off x="9144000" y="1463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h Research"/>
          <p:cNvSpPr txBox="1"/>
          <p:nvPr/>
        </p:nvSpPr>
        <p:spPr>
          <a:xfrm>
            <a:off x="905256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202E"/>
                </a:solidFill>
              </a:rPr>
              <a:t>Research</a:t>
            </a:r>
            <a:endParaRPr lang="en-US" sz="2000" dirty="0"/>
          </a:p>
        </p:txBody>
      </p:sp>
      <p:sp>
        <p:nvSpPr>
          <p:cNvPr id="18" name="t Research"/>
          <p:cNvSpPr txBox="1"/>
          <p:nvPr/>
        </p:nvSpPr>
        <p:spPr>
          <a:xfrm>
            <a:off x="9052560" y="2697480"/>
            <a:ext cx="2560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</a:rPr>
              <a:t>33-year backtest harness that chose the strategy; re-runnable on demand.</a:t>
            </a:r>
            <a:endParaRPr lang="en-US" sz="1400" dirty="0"/>
          </a:p>
        </p:txBody>
      </p:sp>
      <p:sp>
        <p:nvSpPr>
          <p:cNvPr id="19" name="principles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0" name="principles text"/>
          <p:cNvSpPr txBox="1"/>
          <p:nvPr/>
        </p:nvSpPr>
        <p:spPr>
          <a:xfrm>
            <a:off x="822960" y="466344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</a:rPr>
              <a:t>Design principles  </a:t>
            </a:r>
            <a:pPr indent="0" marL="0">
              <a:buNone/>
            </a:pPr>
            <a:r>
              <a:rPr lang="en-US" sz="1400" dirty="0">
                <a:solidFill>
                  <a:srgbClr val="5B6678"/>
                </a:solidFill>
              </a:rPr>
              <a:t>No servers to maintain · No secrets anywhere public · No vendor lock-in (plain Node.js, zero npm dependencies, nothing depends on Claude or any paid service) · The owner's data stays in the owner's browser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System context</a:t>
            </a:r>
            <a:endParaRPr lang="en-US" sz="3200" dirty="0"/>
          </a:p>
        </p:txBody>
      </p:sp>
      <p:sp>
        <p:nvSpPr>
          <p:cNvPr id="3" name="group Owner's devices"/>
          <p:cNvSpPr/>
          <p:nvPr/>
        </p:nvSpPr>
        <p:spPr>
          <a:xfrm>
            <a:off x="548640" y="1280160"/>
            <a:ext cx="23774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4" name="group title Owner&amp;apos;s devices"/>
          <p:cNvSpPr txBox="1"/>
          <p:nvPr/>
        </p:nvSpPr>
        <p:spPr>
          <a:xfrm>
            <a:off x="640080" y="13258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Owner's devices</a:t>
            </a:r>
            <a:endParaRPr lang="en-US" sz="1100" dirty="0"/>
          </a:p>
        </p:txBody>
      </p:sp>
      <p:sp>
        <p:nvSpPr>
          <p:cNvPr id="5" name="Browser"/>
          <p:cNvSpPr/>
          <p:nvPr/>
        </p:nvSpPr>
        <p:spPr>
          <a:xfrm>
            <a:off x="731520" y="18288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6" name="Browser label"/>
          <p:cNvSpPr txBox="1"/>
          <p:nvPr/>
        </p:nvSpPr>
        <p:spPr>
          <a:xfrm>
            <a:off x="73152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Browser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page + localStorage</a:t>
            </a:r>
            <a:endParaRPr lang="en-US" sz="1200" dirty="0"/>
          </a:p>
        </p:txBody>
      </p:sp>
      <p:sp>
        <p:nvSpPr>
          <p:cNvPr id="7" name="Phone"/>
          <p:cNvSpPr/>
          <p:nvPr/>
        </p:nvSpPr>
        <p:spPr>
          <a:xfrm>
            <a:off x="731520" y="484632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8" name="Phone label"/>
          <p:cNvSpPr txBox="1"/>
          <p:nvPr/>
        </p:nvSpPr>
        <p:spPr>
          <a:xfrm>
            <a:off x="731520" y="484632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Phone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Telegram</a:t>
            </a:r>
            <a:endParaRPr lang="en-US" sz="1200" dirty="0"/>
          </a:p>
        </p:txBody>
      </p:sp>
      <p:sp>
        <p:nvSpPr>
          <p:cNvPr id="9" name="group GitHub (free)"/>
          <p:cNvSpPr/>
          <p:nvPr/>
        </p:nvSpPr>
        <p:spPr>
          <a:xfrm>
            <a:off x="3566160" y="1280160"/>
            <a:ext cx="512064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10" name="group title GitHub (free)"/>
          <p:cNvSpPr txBox="1"/>
          <p:nvPr/>
        </p:nvSpPr>
        <p:spPr>
          <a:xfrm>
            <a:off x="365760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GitHub (free)</a:t>
            </a:r>
            <a:endParaRPr lang="en-US" sz="1100" dirty="0"/>
          </a:p>
        </p:txBody>
      </p:sp>
      <p:sp>
        <p:nvSpPr>
          <p:cNvPr id="11" name="GitHub Pages"/>
          <p:cNvSpPr/>
          <p:nvPr/>
        </p:nvSpPr>
        <p:spPr>
          <a:xfrm>
            <a:off x="3749040" y="18288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2" name="GitHub Pages label"/>
          <p:cNvSpPr txBox="1"/>
          <p:nvPr/>
        </p:nvSpPr>
        <p:spPr>
          <a:xfrm>
            <a:off x="374904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serves the site + config.json</a:t>
            </a:r>
            <a:endParaRPr lang="en-US" sz="1200" dirty="0"/>
          </a:p>
        </p:txBody>
      </p:sp>
      <p:sp>
        <p:nvSpPr>
          <p:cNvPr id="13" name="Repository"/>
          <p:cNvSpPr/>
          <p:nvPr/>
        </p:nvSpPr>
        <p:spPr>
          <a:xfrm>
            <a:off x="6309360" y="1828800"/>
            <a:ext cx="21945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4" name="Repository label"/>
          <p:cNvSpPr txBox="1"/>
          <p:nvPr/>
        </p:nvSpPr>
        <p:spPr>
          <a:xfrm>
            <a:off x="6309360" y="1828800"/>
            <a:ext cx="21945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Repository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code + data JSON</a:t>
            </a:r>
            <a:endParaRPr lang="en-US" sz="1200" dirty="0"/>
          </a:p>
        </p:txBody>
      </p:sp>
      <p:sp>
        <p:nvSpPr>
          <p:cNvPr id="15" name="Encrypted secrets"/>
          <p:cNvSpPr/>
          <p:nvPr/>
        </p:nvSpPr>
        <p:spPr>
          <a:xfrm>
            <a:off x="3749040" y="2926080"/>
            <a:ext cx="2194560" cy="731520"/>
          </a:xfrm>
          <a:prstGeom prst="roundRect">
            <a:avLst>
              <a:gd name="adj" fmla="val 10000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16" name="Encrypted secrets label"/>
          <p:cNvSpPr txBox="1"/>
          <p:nvPr/>
        </p:nvSpPr>
        <p:spPr>
          <a:xfrm>
            <a:off x="3749040" y="2926080"/>
            <a:ext cx="21945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Encrypted secrets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ALPACA_*, JOURNAL_KEY, TELEGRAM_*</a:t>
            </a:r>
            <a:endParaRPr lang="en-US" sz="1100" dirty="0"/>
          </a:p>
        </p:txBody>
      </p:sp>
      <p:sp>
        <p:nvSpPr>
          <p:cNvPr id="17" name="group GitHub Actions"/>
          <p:cNvSpPr/>
          <p:nvPr/>
        </p:nvSpPr>
        <p:spPr>
          <a:xfrm>
            <a:off x="3749040" y="3931920"/>
            <a:ext cx="475488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18" name="group title GitHub Actions"/>
          <p:cNvSpPr txBox="1"/>
          <p:nvPr/>
        </p:nvSpPr>
        <p:spPr>
          <a:xfrm>
            <a:off x="3840480" y="3977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GitHub Actions</a:t>
            </a:r>
            <a:endParaRPr lang="en-US" sz="1100" dirty="0"/>
          </a:p>
        </p:txBody>
      </p:sp>
      <p:sp>
        <p:nvSpPr>
          <p:cNvPr id="19" name="refresh-prices"/>
          <p:cNvSpPr/>
          <p:nvPr/>
        </p:nvSpPr>
        <p:spPr>
          <a:xfrm>
            <a:off x="3931920" y="4297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0" name="refresh-prices label"/>
          <p:cNvSpPr txBox="1"/>
          <p:nvPr/>
        </p:nvSpPr>
        <p:spPr>
          <a:xfrm>
            <a:off x="3931920" y="4297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refresh-prices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every 10–15 min</a:t>
            </a:r>
            <a:endParaRPr lang="en-US" sz="1100" dirty="0"/>
          </a:p>
        </p:txBody>
      </p:sp>
      <p:sp>
        <p:nvSpPr>
          <p:cNvPr id="21" name="paper-trade-bot"/>
          <p:cNvSpPr/>
          <p:nvPr/>
        </p:nvSpPr>
        <p:spPr>
          <a:xfrm>
            <a:off x="5440680" y="4297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2" name="paper-trade-bot label"/>
          <p:cNvSpPr txBox="1"/>
          <p:nvPr/>
        </p:nvSpPr>
        <p:spPr>
          <a:xfrm>
            <a:off x="5440680" y="4297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paper-trade-bot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market hours</a:t>
            </a:r>
            <a:endParaRPr lang="en-US" sz="1100" dirty="0"/>
          </a:p>
        </p:txBody>
      </p:sp>
      <p:sp>
        <p:nvSpPr>
          <p:cNvPr id="23" name="research · tests"/>
          <p:cNvSpPr/>
          <p:nvPr/>
        </p:nvSpPr>
        <p:spPr>
          <a:xfrm>
            <a:off x="6949440" y="4297680"/>
            <a:ext cx="1371600" cy="1188720"/>
          </a:xfrm>
          <a:prstGeom prst="roundRect">
            <a:avLst>
              <a:gd name="adj" fmla="val 6154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4" name="research · tests label"/>
          <p:cNvSpPr txBox="1"/>
          <p:nvPr/>
        </p:nvSpPr>
        <p:spPr>
          <a:xfrm>
            <a:off x="6949440" y="4297680"/>
            <a:ext cx="13716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research ·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on demand / push</a:t>
            </a:r>
            <a:endParaRPr lang="en-US" sz="1100" dirty="0"/>
          </a:p>
        </p:txBody>
      </p:sp>
      <p:sp>
        <p:nvSpPr>
          <p:cNvPr id="25" name="group External services"/>
          <p:cNvSpPr/>
          <p:nvPr/>
        </p:nvSpPr>
        <p:spPr>
          <a:xfrm>
            <a:off x="9326880" y="1280160"/>
            <a:ext cx="22860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26" name="group title External services"/>
          <p:cNvSpPr txBox="1"/>
          <p:nvPr/>
        </p:nvSpPr>
        <p:spPr>
          <a:xfrm>
            <a:off x="9418320" y="1325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External services</a:t>
            </a:r>
            <a:endParaRPr lang="en-US" sz="1100" dirty="0"/>
          </a:p>
        </p:txBody>
      </p:sp>
      <p:sp>
        <p:nvSpPr>
          <p:cNvPr id="27" name="Yahoo Finance"/>
          <p:cNvSpPr/>
          <p:nvPr/>
        </p:nvSpPr>
        <p:spPr>
          <a:xfrm>
            <a:off x="9509760" y="173736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8" name="Yahoo Finance label"/>
          <p:cNvSpPr txBox="1"/>
          <p:nvPr/>
        </p:nvSpPr>
        <p:spPr>
          <a:xfrm>
            <a:off x="9509760" y="1737360"/>
            <a:ext cx="1920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Yahoo Finance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prices</a:t>
            </a:r>
            <a:endParaRPr lang="en-US" sz="1100" dirty="0"/>
          </a:p>
        </p:txBody>
      </p:sp>
      <p:sp>
        <p:nvSpPr>
          <p:cNvPr id="29" name="Finnhub"/>
          <p:cNvSpPr/>
          <p:nvPr/>
        </p:nvSpPr>
        <p:spPr>
          <a:xfrm>
            <a:off x="9509760" y="26060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0" name="Finnhub label"/>
          <p:cNvSpPr txBox="1"/>
          <p:nvPr/>
        </p:nvSpPr>
        <p:spPr>
          <a:xfrm>
            <a:off x="9509760" y="2606040"/>
            <a:ext cx="1920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Finnhub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quotes + news, browser key</a:t>
            </a:r>
            <a:endParaRPr lang="en-US" sz="1100" dirty="0"/>
          </a:p>
        </p:txBody>
      </p:sp>
      <p:sp>
        <p:nvSpPr>
          <p:cNvPr id="31" name="RSS · Benzinga"/>
          <p:cNvSpPr/>
          <p:nvPr/>
        </p:nvSpPr>
        <p:spPr>
          <a:xfrm>
            <a:off x="9509760" y="347472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2" name="RSS · Benzinga label"/>
          <p:cNvSpPr txBox="1"/>
          <p:nvPr/>
        </p:nvSpPr>
        <p:spPr>
          <a:xfrm>
            <a:off x="9509760" y="3474720"/>
            <a:ext cx="1920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RSS · Benzinga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Fed, Yahoo news</a:t>
            </a:r>
            <a:endParaRPr lang="en-US" sz="1100" dirty="0"/>
          </a:p>
        </p:txBody>
      </p:sp>
      <p:sp>
        <p:nvSpPr>
          <p:cNvPr id="33" name="Alpaca"/>
          <p:cNvSpPr/>
          <p:nvPr/>
        </p:nvSpPr>
        <p:spPr>
          <a:xfrm>
            <a:off x="9509760" y="420624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34" name="Alpaca label"/>
          <p:cNvSpPr txBox="1"/>
          <p:nvPr/>
        </p:nvSpPr>
        <p:spPr>
          <a:xfrm>
            <a:off x="9509760" y="4206240"/>
            <a:ext cx="192024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Alpaca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broker: paper or live</a:t>
            </a:r>
            <a:endParaRPr lang="en-US" sz="1100" dirty="0"/>
          </a:p>
        </p:txBody>
      </p:sp>
      <p:sp>
        <p:nvSpPr>
          <p:cNvPr id="35" name="ntfy.sh"/>
          <p:cNvSpPr/>
          <p:nvPr/>
        </p:nvSpPr>
        <p:spPr>
          <a:xfrm>
            <a:off x="9509760" y="507492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6" name="ntfy.sh label"/>
          <p:cNvSpPr txBox="1"/>
          <p:nvPr/>
        </p:nvSpPr>
        <p:spPr>
          <a:xfrm>
            <a:off x="9509760" y="5074920"/>
            <a:ext cx="19202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Telegram Bot API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push alerts</a:t>
            </a:r>
            <a:endParaRPr lang="en-US" sz="1100" dirty="0"/>
          </a:p>
        </p:txBody>
      </p:sp>
      <p:sp>
        <p:nvSpPr>
          <p:cNvPr id="37" name="arrow reads"/>
          <p:cNvSpPr/>
          <p:nvPr/>
        </p:nvSpPr>
        <p:spPr>
          <a:xfrm>
            <a:off x="2743200" y="2103120"/>
            <a:ext cx="100584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label reads"/>
          <p:cNvSpPr txBox="1"/>
          <p:nvPr/>
        </p:nvSpPr>
        <p:spPr>
          <a:xfrm>
            <a:off x="3017520" y="198424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reads</a:t>
            </a:r>
            <a:endParaRPr lang="en-US" sz="900" dirty="0"/>
          </a:p>
        </p:txBody>
      </p:sp>
      <p:sp>
        <p:nvSpPr>
          <p:cNvPr id="39" name="arrow sealed box"/>
          <p:cNvSpPr/>
          <p:nvPr/>
        </p:nvSpPr>
        <p:spPr>
          <a:xfrm>
            <a:off x="2743200" y="2468880"/>
            <a:ext cx="1005840" cy="73152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0" name="label sealed box"/>
          <p:cNvSpPr txBox="1"/>
          <p:nvPr/>
        </p:nvSpPr>
        <p:spPr>
          <a:xfrm>
            <a:off x="2889504" y="2852928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sealed box</a:t>
            </a:r>
            <a:endParaRPr lang="en-US" sz="900" dirty="0"/>
          </a:p>
        </p:txBody>
      </p:sp>
      <p:sp>
        <p:nvSpPr>
          <p:cNvPr id="41" name="arrow "/>
          <p:cNvSpPr/>
          <p:nvPr/>
        </p:nvSpPr>
        <p:spPr>
          <a:xfrm>
            <a:off x="5943600" y="2240280"/>
            <a:ext cx="36576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2" name="arrow commits live.json, news.json, journal.json"/>
          <p:cNvSpPr/>
          <p:nvPr/>
        </p:nvSpPr>
        <p:spPr>
          <a:xfrm flipV="1">
            <a:off x="7406640" y="2651760"/>
            <a:ext cx="9144" cy="1280160"/>
          </a:xfrm>
          <a:prstGeom prst="line">
            <a:avLst/>
          </a:prstGeom>
          <a:noFill/>
          <a:ln w="22225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3" name="label commits live.json, news.json, journal.json"/>
          <p:cNvSpPr txBox="1"/>
          <p:nvPr/>
        </p:nvSpPr>
        <p:spPr>
          <a:xfrm>
            <a:off x="6055157" y="3172968"/>
            <a:ext cx="270296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commits live.json, news.json, journal.json</a:t>
            </a:r>
            <a:endParaRPr lang="en-US" sz="900" dirty="0"/>
          </a:p>
        </p:txBody>
      </p:sp>
      <p:sp>
        <p:nvSpPr>
          <p:cNvPr id="44" name="arrow env, run time only"/>
          <p:cNvSpPr/>
          <p:nvPr/>
        </p:nvSpPr>
        <p:spPr>
          <a:xfrm>
            <a:off x="5669280" y="3657600"/>
            <a:ext cx="9144" cy="640080"/>
          </a:xfrm>
          <a:prstGeom prst="line">
            <a:avLst/>
          </a:prstGeom>
          <a:noFill/>
          <a:ln w="15875">
            <a:solidFill>
              <a:srgbClr val="5B6678"/>
            </a:solidFill>
            <a:prstDash val="dash"/>
            <a:tailEnd type="triangle"/>
          </a:ln>
        </p:spPr>
        <p:txBody>
          <a:bodyPr/>
          <a:p/>
        </p:txBody>
      </p:sp>
      <p:sp>
        <p:nvSpPr>
          <p:cNvPr id="45" name="label env, run time only"/>
          <p:cNvSpPr txBox="1"/>
          <p:nvPr/>
        </p:nvSpPr>
        <p:spPr>
          <a:xfrm>
            <a:off x="5063947" y="3858768"/>
            <a:ext cx="1210666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env, run time only</a:t>
            </a:r>
            <a:endParaRPr lang="en-US" sz="900" dirty="0"/>
          </a:p>
        </p:txBody>
      </p:sp>
      <p:sp>
        <p:nvSpPr>
          <p:cNvPr id="46" name="arrow fetch"/>
          <p:cNvSpPr/>
          <p:nvPr/>
        </p:nvSpPr>
        <p:spPr>
          <a:xfrm flipV="1">
            <a:off x="8503920" y="2286000"/>
            <a:ext cx="1005840" cy="228600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7" name="label fetch"/>
          <p:cNvSpPr txBox="1"/>
          <p:nvPr/>
        </p:nvSpPr>
        <p:spPr>
          <a:xfrm>
            <a:off x="8778240" y="340156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fetch</a:t>
            </a:r>
            <a:endParaRPr lang="en-US" sz="900" dirty="0"/>
          </a:p>
        </p:txBody>
      </p:sp>
      <p:sp>
        <p:nvSpPr>
          <p:cNvPr id="48" name="arrow orders · streams"/>
          <p:cNvSpPr/>
          <p:nvPr/>
        </p:nvSpPr>
        <p:spPr>
          <a:xfrm>
            <a:off x="8503920" y="4572000"/>
            <a:ext cx="1005840" cy="9144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49" name="label orders · streams"/>
          <p:cNvSpPr txBox="1"/>
          <p:nvPr/>
        </p:nvSpPr>
        <p:spPr>
          <a:xfrm>
            <a:off x="8463686" y="4453128"/>
            <a:ext cx="1086307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orders · streams</a:t>
            </a:r>
            <a:endParaRPr lang="en-US" sz="900" dirty="0"/>
          </a:p>
        </p:txBody>
      </p:sp>
      <p:sp>
        <p:nvSpPr>
          <p:cNvPr id="50" name="arrow "/>
          <p:cNvSpPr/>
          <p:nvPr/>
        </p:nvSpPr>
        <p:spPr>
          <a:xfrm>
            <a:off x="8503920" y="5413248"/>
            <a:ext cx="100584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1" name="arrow "/>
          <p:cNvSpPr/>
          <p:nvPr/>
        </p:nvSpPr>
        <p:spPr>
          <a:xfrm>
            <a:off x="10424160" y="5760720"/>
            <a:ext cx="9144" cy="27432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2" name="arrow push alert"/>
          <p:cNvSpPr/>
          <p:nvPr/>
        </p:nvSpPr>
        <p:spPr>
          <a:xfrm flipH="1">
            <a:off x="1737360" y="6035040"/>
            <a:ext cx="868680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3" name="label push alert"/>
          <p:cNvSpPr txBox="1"/>
          <p:nvPr/>
        </p:nvSpPr>
        <p:spPr>
          <a:xfrm>
            <a:off x="5724144" y="5733288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push alert</a:t>
            </a:r>
            <a:endParaRPr lang="en-US" sz="900" dirty="0"/>
          </a:p>
        </p:txBody>
      </p:sp>
      <p:sp>
        <p:nvSpPr>
          <p:cNvPr id="54" name="arrow "/>
          <p:cNvSpPr/>
          <p:nvPr/>
        </p:nvSpPr>
        <p:spPr>
          <a:xfrm flipV="1">
            <a:off x="1737360" y="5669280"/>
            <a:ext cx="9144" cy="36576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55" name="ctx note"/>
          <p:cNvSpPr txBox="1"/>
          <p:nvPr/>
        </p:nvSpPr>
        <p:spPr>
          <a:xfrm>
            <a:off x="548640" y="6144768"/>
            <a:ext cx="10972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The owner's browser also pulls quotes straight from Yahoo and Finnhub on demand (own key, stored in the browser).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Data flow — one market day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640080" y="1399032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4" name="step n 1"/>
          <p:cNvSpPr txBox="1"/>
          <p:nvPr/>
        </p:nvSpPr>
        <p:spPr>
          <a:xfrm>
            <a:off x="640080" y="13990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step h 1"/>
          <p:cNvSpPr txBox="1"/>
          <p:nvPr/>
        </p:nvSpPr>
        <p:spPr>
          <a:xfrm>
            <a:off x="1325880" y="13258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Fetch</a:t>
            </a:r>
            <a:endParaRPr lang="en-US" sz="1800" dirty="0"/>
          </a:p>
        </p:txBody>
      </p:sp>
      <p:sp>
        <p:nvSpPr>
          <p:cNvPr id="6" name="step t 1"/>
          <p:cNvSpPr txBox="1"/>
          <p:nvPr/>
        </p:nvSpPr>
        <p:spPr>
          <a:xfrm>
            <a:off x="2834640" y="132588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refresh-prices pulls daily bars, quotes and headlines from Yahoo, Fed RSS and Benzinga</a:t>
            </a:r>
            <a:endParaRPr lang="en-US" sz="1300" dirty="0"/>
          </a:p>
        </p:txBody>
      </p:sp>
      <p:sp>
        <p:nvSpPr>
          <p:cNvPr id="7" name="step w 1"/>
          <p:cNvSpPr txBox="1"/>
          <p:nvPr/>
        </p:nvSpPr>
        <p:spPr>
          <a:xfrm>
            <a:off x="9784080" y="1325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every 10–15 min</a:t>
            </a:r>
            <a:endParaRPr lang="en-US" sz="1100" dirty="0"/>
          </a:p>
        </p:txBody>
      </p:sp>
      <p:sp>
        <p:nvSpPr>
          <p:cNvPr id="8" name="step line 1"/>
          <p:cNvSpPr/>
          <p:nvPr/>
        </p:nvSpPr>
        <p:spPr>
          <a:xfrm>
            <a:off x="886968" y="1901952"/>
            <a:ext cx="9144" cy="228600"/>
          </a:xfrm>
          <a:prstGeom prst="line">
            <a:avLst/>
          </a:prstGeom>
          <a:noFill/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9" name="step 2"/>
          <p:cNvSpPr/>
          <p:nvPr/>
        </p:nvSpPr>
        <p:spPr>
          <a:xfrm>
            <a:off x="640080" y="2203704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0" name="step n 2"/>
          <p:cNvSpPr txBox="1"/>
          <p:nvPr/>
        </p:nvSpPr>
        <p:spPr>
          <a:xfrm>
            <a:off x="640080" y="220370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tep h 2"/>
          <p:cNvSpPr txBox="1"/>
          <p:nvPr/>
        </p:nvSpPr>
        <p:spPr>
          <a:xfrm>
            <a:off x="1325880" y="213055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Commit</a:t>
            </a:r>
            <a:endParaRPr lang="en-US" sz="1800" dirty="0"/>
          </a:p>
        </p:txBody>
      </p:sp>
      <p:sp>
        <p:nvSpPr>
          <p:cNvPr id="12" name="step t 2"/>
          <p:cNvSpPr txBox="1"/>
          <p:nvPr/>
        </p:nvSpPr>
        <p:spPr>
          <a:xfrm>
            <a:off x="2834640" y="2130552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live.json, news.json and ver.txt are committed; GitHub Pages serves them</a:t>
            </a:r>
            <a:endParaRPr lang="en-US" sz="1300" dirty="0"/>
          </a:p>
        </p:txBody>
      </p:sp>
      <p:sp>
        <p:nvSpPr>
          <p:cNvPr id="13" name="step w 2"/>
          <p:cNvSpPr txBox="1"/>
          <p:nvPr/>
        </p:nvSpPr>
        <p:spPr>
          <a:xfrm>
            <a:off x="9784080" y="213055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seconds later</a:t>
            </a:r>
            <a:endParaRPr lang="en-US" sz="1100" dirty="0"/>
          </a:p>
        </p:txBody>
      </p:sp>
      <p:sp>
        <p:nvSpPr>
          <p:cNvPr id="14" name="step line 2"/>
          <p:cNvSpPr/>
          <p:nvPr/>
        </p:nvSpPr>
        <p:spPr>
          <a:xfrm>
            <a:off x="886968" y="2706624"/>
            <a:ext cx="9144" cy="228600"/>
          </a:xfrm>
          <a:prstGeom prst="line">
            <a:avLst/>
          </a:prstGeom>
          <a:noFill/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15" name="step 3"/>
          <p:cNvSpPr/>
          <p:nvPr/>
        </p:nvSpPr>
        <p:spPr>
          <a:xfrm>
            <a:off x="640080" y="3008376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6" name="step n 3"/>
          <p:cNvSpPr txBox="1"/>
          <p:nvPr/>
        </p:nvSpPr>
        <p:spPr>
          <a:xfrm>
            <a:off x="640080" y="30083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step h 3"/>
          <p:cNvSpPr txBox="1"/>
          <p:nvPr/>
        </p:nvSpPr>
        <p:spPr>
          <a:xfrm>
            <a:off x="1325880" y="2935224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Render</a:t>
            </a:r>
            <a:endParaRPr lang="en-US" sz="1800" dirty="0"/>
          </a:p>
        </p:txBody>
      </p:sp>
      <p:sp>
        <p:nvSpPr>
          <p:cNvPr id="18" name="step t 3"/>
          <p:cNvSpPr txBox="1"/>
          <p:nvPr/>
        </p:nvSpPr>
        <p:spPr>
          <a:xfrm>
            <a:off x="2834640" y="2935224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The page loads the snapshot, scores every stock, renders tabs; price ticks morph the DOM in place</a:t>
            </a:r>
            <a:endParaRPr lang="en-US" sz="1300" dirty="0"/>
          </a:p>
        </p:txBody>
      </p:sp>
      <p:sp>
        <p:nvSpPr>
          <p:cNvPr id="19" name="step w 3"/>
          <p:cNvSpPr txBox="1"/>
          <p:nvPr/>
        </p:nvSpPr>
        <p:spPr>
          <a:xfrm>
            <a:off x="9784080" y="293522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in the browser</a:t>
            </a:r>
            <a:endParaRPr lang="en-US" sz="1100" dirty="0"/>
          </a:p>
        </p:txBody>
      </p:sp>
      <p:sp>
        <p:nvSpPr>
          <p:cNvPr id="20" name="step line 3"/>
          <p:cNvSpPr/>
          <p:nvPr/>
        </p:nvSpPr>
        <p:spPr>
          <a:xfrm>
            <a:off x="886968" y="3511296"/>
            <a:ext cx="9144" cy="228600"/>
          </a:xfrm>
          <a:prstGeom prst="line">
            <a:avLst/>
          </a:prstGeom>
          <a:noFill/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21" name="step 4"/>
          <p:cNvSpPr/>
          <p:nvPr/>
        </p:nvSpPr>
        <p:spPr>
          <a:xfrm>
            <a:off x="640080" y="3813048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22" name="step n 4"/>
          <p:cNvSpPr txBox="1"/>
          <p:nvPr/>
        </p:nvSpPr>
        <p:spPr>
          <a:xfrm>
            <a:off x="640080" y="3813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3" name="step h 4"/>
          <p:cNvSpPr txBox="1"/>
          <p:nvPr/>
        </p:nvSpPr>
        <p:spPr>
          <a:xfrm>
            <a:off x="1325880" y="3739896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Configure</a:t>
            </a:r>
            <a:endParaRPr lang="en-US" sz="1800" dirty="0"/>
          </a:p>
        </p:txBody>
      </p:sp>
      <p:sp>
        <p:nvSpPr>
          <p:cNvPr id="24" name="step t 4"/>
          <p:cNvSpPr txBox="1"/>
          <p:nvPr/>
        </p:nvSpPr>
        <p:spPr>
          <a:xfrm>
            <a:off x="2834640" y="3739896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Bot settings writes bot/config.json through the GitHub API; keys go to encrypted secrets</a:t>
            </a:r>
            <a:endParaRPr lang="en-US" sz="1300" dirty="0"/>
          </a:p>
        </p:txBody>
      </p:sp>
      <p:sp>
        <p:nvSpPr>
          <p:cNvPr id="25" name="step w 4"/>
          <p:cNvSpPr txBox="1"/>
          <p:nvPr/>
        </p:nvSpPr>
        <p:spPr>
          <a:xfrm>
            <a:off x="9784080" y="3739896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when the owner saves</a:t>
            </a:r>
            <a:endParaRPr lang="en-US" sz="1100" dirty="0"/>
          </a:p>
        </p:txBody>
      </p:sp>
      <p:sp>
        <p:nvSpPr>
          <p:cNvPr id="26" name="step line 4"/>
          <p:cNvSpPr/>
          <p:nvPr/>
        </p:nvSpPr>
        <p:spPr>
          <a:xfrm>
            <a:off x="886968" y="4315968"/>
            <a:ext cx="9144" cy="228600"/>
          </a:xfrm>
          <a:prstGeom prst="line">
            <a:avLst/>
          </a:prstGeom>
          <a:noFill/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27" name="step 5"/>
          <p:cNvSpPr/>
          <p:nvPr/>
        </p:nvSpPr>
        <p:spPr>
          <a:xfrm>
            <a:off x="640080" y="4617720"/>
            <a:ext cx="502920" cy="502920"/>
          </a:xfrm>
          <a:prstGeom prst="ellipse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28" name="step n 5"/>
          <p:cNvSpPr txBox="1"/>
          <p:nvPr/>
        </p:nvSpPr>
        <p:spPr>
          <a:xfrm>
            <a:off x="64008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E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step h 5"/>
          <p:cNvSpPr txBox="1"/>
          <p:nvPr/>
        </p:nvSpPr>
        <p:spPr>
          <a:xfrm>
            <a:off x="1325880" y="45445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Trade</a:t>
            </a:r>
            <a:endParaRPr lang="en-US" sz="1800" dirty="0"/>
          </a:p>
        </p:txBody>
      </p:sp>
      <p:sp>
        <p:nvSpPr>
          <p:cNvPr id="30" name="step t 5"/>
          <p:cNvSpPr txBox="1"/>
          <p:nvPr/>
        </p:nvSpPr>
        <p:spPr>
          <a:xfrm>
            <a:off x="2834640" y="4544568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The bot reads config.json every 60 s, streams fills and ticks from Alpaca, places limit orders</a:t>
            </a:r>
            <a:endParaRPr lang="en-US" sz="1300" dirty="0"/>
          </a:p>
        </p:txBody>
      </p:sp>
      <p:sp>
        <p:nvSpPr>
          <p:cNvPr id="31" name="step w 5"/>
          <p:cNvSpPr txBox="1"/>
          <p:nvPr/>
        </p:nvSpPr>
        <p:spPr>
          <a:xfrm>
            <a:off x="9784080" y="454456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9:30 – 16:00 ET</a:t>
            </a:r>
            <a:endParaRPr lang="en-US" sz="1100" dirty="0"/>
          </a:p>
        </p:txBody>
      </p:sp>
      <p:sp>
        <p:nvSpPr>
          <p:cNvPr id="32" name="step line 5"/>
          <p:cNvSpPr/>
          <p:nvPr/>
        </p:nvSpPr>
        <p:spPr>
          <a:xfrm>
            <a:off x="886968" y="5120640"/>
            <a:ext cx="9144" cy="228600"/>
          </a:xfrm>
          <a:prstGeom prst="line">
            <a:avLst/>
          </a:prstGeom>
          <a:noFill/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33" name="step 6"/>
          <p:cNvSpPr/>
          <p:nvPr/>
        </p:nvSpPr>
        <p:spPr>
          <a:xfrm>
            <a:off x="640080" y="5422392"/>
            <a:ext cx="502920" cy="502920"/>
          </a:xfrm>
          <a:prstGeom prst="ellipse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34" name="step n 6"/>
          <p:cNvSpPr txBox="1"/>
          <p:nvPr/>
        </p:nvSpPr>
        <p:spPr>
          <a:xfrm>
            <a:off x="640080" y="5422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5" name="step h 6"/>
          <p:cNvSpPr txBox="1"/>
          <p:nvPr/>
        </p:nvSpPr>
        <p:spPr>
          <a:xfrm>
            <a:off x="1325880" y="5349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02E"/>
                </a:solidFill>
              </a:rPr>
              <a:t>Journal</a:t>
            </a:r>
            <a:endParaRPr lang="en-US" sz="1800" dirty="0"/>
          </a:p>
        </p:txBody>
      </p:sp>
      <p:sp>
        <p:nvSpPr>
          <p:cNvPr id="36" name="step t 6"/>
          <p:cNvSpPr txBox="1"/>
          <p:nvPr/>
        </p:nvSpPr>
        <p:spPr>
          <a:xfrm>
            <a:off x="2834640" y="534924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678"/>
                </a:solidFill>
              </a:rPr>
              <a:t>bot/journal.json is committed every 10 minutes and at the close; the Bot tab shows it</a:t>
            </a:r>
            <a:endParaRPr lang="en-US" sz="1300" dirty="0"/>
          </a:p>
        </p:txBody>
      </p:sp>
      <p:sp>
        <p:nvSpPr>
          <p:cNvPr id="37" name="step w 6"/>
          <p:cNvSpPr txBox="1"/>
          <p:nvPr/>
        </p:nvSpPr>
        <p:spPr>
          <a:xfrm>
            <a:off x="9784080" y="53492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E7C86"/>
                </a:solidFill>
              </a:rPr>
              <a:t>every 10 min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The website — one page, three apps</a:t>
            </a:r>
            <a:endParaRPr lang="en-US" sz="3200" dirty="0"/>
          </a:p>
        </p:txBody>
      </p:sp>
      <p:sp>
        <p:nvSpPr>
          <p:cNvPr id="3" name="App bar: Signal Desk · Retirement · Rent vs EMI · theme toggle"/>
          <p:cNvSpPr/>
          <p:nvPr/>
        </p:nvSpPr>
        <p:spPr>
          <a:xfrm>
            <a:off x="548640" y="1371600"/>
            <a:ext cx="11064240" cy="640080"/>
          </a:xfrm>
          <a:prstGeom prst="roundRect">
            <a:avLst>
              <a:gd name="adj" fmla="val 11429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4" name="App bar: Signal Desk · Retirement · Rent vs EMI · theme toggle label"/>
          <p:cNvSpPr txBox="1"/>
          <p:nvPr/>
        </p:nvSpPr>
        <p:spPr>
          <a:xfrm>
            <a:off x="548640" y="1371600"/>
            <a:ext cx="110642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App bar: Signal Desk · Retirement · Rent vs EMI · theme toggle</a:t>
            </a:r>
            <a:endParaRPr lang="en-US" sz="1400" dirty="0"/>
          </a:p>
        </p:txBody>
      </p:sp>
      <p:sp>
        <p:nvSpPr>
          <p:cNvPr id="5" name="Signal Desk"/>
          <p:cNvSpPr/>
          <p:nvPr/>
        </p:nvSpPr>
        <p:spPr>
          <a:xfrm>
            <a:off x="548640" y="2286000"/>
            <a:ext cx="66751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6" name="Signal Desk label"/>
          <p:cNvSpPr txBox="1"/>
          <p:nvPr/>
        </p:nvSpPr>
        <p:spPr>
          <a:xfrm>
            <a:off x="548640" y="2286000"/>
            <a:ext cx="667512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Signal Desk</a:t>
            </a:r>
            <a:endParaRPr lang="en-US" sz="1200" dirty="0"/>
          </a:p>
        </p:txBody>
      </p:sp>
      <p:sp>
        <p:nvSpPr>
          <p:cNvPr id="7" name="sd title"/>
          <p:cNvSpPr txBox="1"/>
          <p:nvPr/>
        </p:nvSpPr>
        <p:spPr>
          <a:xfrm>
            <a:off x="73152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202E"/>
                </a:solidFill>
              </a:rPr>
              <a:t>Signal Desk</a:t>
            </a:r>
            <a:endParaRPr lang="en-US" sz="1600" dirty="0"/>
          </a:p>
        </p:txBody>
      </p:sp>
      <p:sp>
        <p:nvSpPr>
          <p:cNvPr id="8" name="USA stocks"/>
          <p:cNvSpPr/>
          <p:nvPr/>
        </p:nvSpPr>
        <p:spPr>
          <a:xfrm>
            <a:off x="73152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9" name="USA stocks label"/>
          <p:cNvSpPr txBox="1"/>
          <p:nvPr/>
        </p:nvSpPr>
        <p:spPr>
          <a:xfrm>
            <a:off x="73152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USA stocks</a:t>
            </a:r>
            <a:endParaRPr lang="en-US" sz="1100" dirty="0"/>
          </a:p>
        </p:txBody>
      </p:sp>
      <p:sp>
        <p:nvSpPr>
          <p:cNvPr id="10" name="India stocks"/>
          <p:cNvSpPr/>
          <p:nvPr/>
        </p:nvSpPr>
        <p:spPr>
          <a:xfrm>
            <a:off x="201168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1" name="India stocks label"/>
          <p:cNvSpPr txBox="1"/>
          <p:nvPr/>
        </p:nvSpPr>
        <p:spPr>
          <a:xfrm>
            <a:off x="201168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India stocks</a:t>
            </a:r>
            <a:endParaRPr lang="en-US" sz="1100" dirty="0"/>
          </a:p>
        </p:txBody>
      </p:sp>
      <p:sp>
        <p:nvSpPr>
          <p:cNvPr id="12" name="Day trading"/>
          <p:cNvSpPr/>
          <p:nvPr/>
        </p:nvSpPr>
        <p:spPr>
          <a:xfrm>
            <a:off x="329184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3" name="Day trading label"/>
          <p:cNvSpPr txBox="1"/>
          <p:nvPr/>
        </p:nvSpPr>
        <p:spPr>
          <a:xfrm>
            <a:off x="329184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Day trading</a:t>
            </a:r>
            <a:endParaRPr lang="en-US" sz="1100" dirty="0"/>
          </a:p>
        </p:txBody>
      </p:sp>
      <p:sp>
        <p:nvSpPr>
          <p:cNvPr id="14" name="Option trading"/>
          <p:cNvSpPr/>
          <p:nvPr/>
        </p:nvSpPr>
        <p:spPr>
          <a:xfrm>
            <a:off x="457200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5" name="Option trading label"/>
          <p:cNvSpPr txBox="1"/>
          <p:nvPr/>
        </p:nvSpPr>
        <p:spPr>
          <a:xfrm>
            <a:off x="457200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Option trading</a:t>
            </a:r>
            <a:endParaRPr lang="en-US" sz="1100" dirty="0"/>
          </a:p>
        </p:txBody>
      </p:sp>
      <p:sp>
        <p:nvSpPr>
          <p:cNvPr id="16" name="Bot trades"/>
          <p:cNvSpPr/>
          <p:nvPr/>
        </p:nvSpPr>
        <p:spPr>
          <a:xfrm>
            <a:off x="5852160" y="283464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7" name="Bot trades label"/>
          <p:cNvSpPr txBox="1"/>
          <p:nvPr/>
        </p:nvSpPr>
        <p:spPr>
          <a:xfrm>
            <a:off x="5852160" y="283464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Bot trades</a:t>
            </a:r>
            <a:endParaRPr lang="en-US" sz="1100" dirty="0"/>
          </a:p>
        </p:txBody>
      </p:sp>
      <p:sp>
        <p:nvSpPr>
          <p:cNvPr id="18" name="Bot settings"/>
          <p:cNvSpPr/>
          <p:nvPr/>
        </p:nvSpPr>
        <p:spPr>
          <a:xfrm>
            <a:off x="731520" y="34290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9" name="Bot settings label"/>
          <p:cNvSpPr txBox="1"/>
          <p:nvPr/>
        </p:nvSpPr>
        <p:spPr>
          <a:xfrm>
            <a:off x="73152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Bot settings</a:t>
            </a:r>
            <a:endParaRPr lang="en-US" sz="1100" dirty="0"/>
          </a:p>
        </p:txBody>
      </p:sp>
      <p:sp>
        <p:nvSpPr>
          <p:cNvPr id="20" name="News"/>
          <p:cNvSpPr/>
          <p:nvPr/>
        </p:nvSpPr>
        <p:spPr>
          <a:xfrm>
            <a:off x="2011680" y="34290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1" name="News label"/>
          <p:cNvSpPr txBox="1"/>
          <p:nvPr/>
        </p:nvSpPr>
        <p:spPr>
          <a:xfrm>
            <a:off x="201168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News</a:t>
            </a:r>
            <a:endParaRPr lang="en-US" sz="1100" dirty="0"/>
          </a:p>
        </p:txBody>
      </p:sp>
      <p:sp>
        <p:nvSpPr>
          <p:cNvPr id="22" name="Portfolios"/>
          <p:cNvSpPr/>
          <p:nvPr/>
        </p:nvSpPr>
        <p:spPr>
          <a:xfrm>
            <a:off x="3291840" y="34290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3" name="Portfolios label"/>
          <p:cNvSpPr txBox="1"/>
          <p:nvPr/>
        </p:nvSpPr>
        <p:spPr>
          <a:xfrm>
            <a:off x="329184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Portfolios</a:t>
            </a:r>
            <a:endParaRPr lang="en-US" sz="1100" dirty="0"/>
          </a:p>
        </p:txBody>
      </p:sp>
      <p:sp>
        <p:nvSpPr>
          <p:cNvPr id="24" name="My tickers"/>
          <p:cNvSpPr/>
          <p:nvPr/>
        </p:nvSpPr>
        <p:spPr>
          <a:xfrm>
            <a:off x="4572000" y="34290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5" name="My tickers label"/>
          <p:cNvSpPr txBox="1"/>
          <p:nvPr/>
        </p:nvSpPr>
        <p:spPr>
          <a:xfrm>
            <a:off x="457200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My tickers</a:t>
            </a:r>
            <a:endParaRPr lang="en-US" sz="1100" dirty="0"/>
          </a:p>
        </p:txBody>
      </p:sp>
      <p:sp>
        <p:nvSpPr>
          <p:cNvPr id="26" name="Rules"/>
          <p:cNvSpPr/>
          <p:nvPr/>
        </p:nvSpPr>
        <p:spPr>
          <a:xfrm>
            <a:off x="5852160" y="3429000"/>
            <a:ext cx="1188720" cy="502920"/>
          </a:xfrm>
          <a:prstGeom prst="roundRect">
            <a:avLst>
              <a:gd name="adj" fmla="val 14545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7" name="Rules label"/>
          <p:cNvSpPr txBox="1"/>
          <p:nvPr/>
        </p:nvSpPr>
        <p:spPr>
          <a:xfrm>
            <a:off x="5852160" y="3429000"/>
            <a:ext cx="11887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Rules</a:t>
            </a:r>
            <a:endParaRPr lang="en-US" sz="1100" dirty="0"/>
          </a:p>
        </p:txBody>
      </p:sp>
      <p:sp>
        <p:nvSpPr>
          <p:cNvPr id="28" name="sd notes"/>
          <p:cNvSpPr txBox="1"/>
          <p:nvPr/>
        </p:nvSpPr>
        <p:spPr>
          <a:xfrm>
            <a:off x="731520" y="41148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</a:rPr>
              <a:t>Vanilla JS, no framework. Price ticks morph the DOM (no flicker, no scroll jump). Self-updates from ver.txt. Dark/light. Responsive: tables full-width and swipeable on touch screens.</a:t>
            </a:r>
            <a:endParaRPr lang="en-US" sz="1200" dirty="0"/>
          </a:p>
        </p:txBody>
      </p:sp>
      <p:sp>
        <p:nvSpPr>
          <p:cNvPr id="29" name="Retirement"/>
          <p:cNvSpPr/>
          <p:nvPr/>
        </p:nvSpPr>
        <p:spPr>
          <a:xfrm>
            <a:off x="7498080" y="2286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0" name="Retirement label"/>
          <p:cNvSpPr txBox="1"/>
          <p:nvPr/>
        </p:nvSpPr>
        <p:spPr>
          <a:xfrm>
            <a:off x="7498080" y="2286000"/>
            <a:ext cx="19202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Retirement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calculator (iframe)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inputs persist</a:t>
            </a:r>
            <a:endParaRPr lang="en-US" sz="1200" dirty="0"/>
          </a:p>
        </p:txBody>
      </p:sp>
      <p:sp>
        <p:nvSpPr>
          <p:cNvPr id="31" name="Rent vs EMI"/>
          <p:cNvSpPr/>
          <p:nvPr/>
        </p:nvSpPr>
        <p:spPr>
          <a:xfrm>
            <a:off x="9692640" y="2286000"/>
            <a:ext cx="1920240" cy="2743200"/>
          </a:xfrm>
          <a:prstGeom prst="roundRect">
            <a:avLst>
              <a:gd name="adj" fmla="val 381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2" name="Rent vs EMI label"/>
          <p:cNvSpPr txBox="1"/>
          <p:nvPr/>
        </p:nvSpPr>
        <p:spPr>
          <a:xfrm>
            <a:off x="9692640" y="2286000"/>
            <a:ext cx="1920240" cy="2743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Rent vs EMI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calculator (iframe)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with SIP plan</a:t>
            </a:r>
            <a:endParaRPr lang="en-US" sz="1200" dirty="0"/>
          </a:p>
        </p:txBody>
      </p:sp>
      <p:sp>
        <p:nvSpPr>
          <p:cNvPr id="33" name="live.json / news.json"/>
          <p:cNvSpPr/>
          <p:nvPr/>
        </p:nvSpPr>
        <p:spPr>
          <a:xfrm>
            <a:off x="548640" y="5303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4" name="live.json / news.json label"/>
          <p:cNvSpPr txBox="1"/>
          <p:nvPr/>
        </p:nvSpPr>
        <p:spPr>
          <a:xfrm>
            <a:off x="548640" y="530352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live.json / news.json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snapshot from Actions</a:t>
            </a:r>
            <a:endParaRPr lang="en-US" sz="1100" dirty="0"/>
          </a:p>
        </p:txBody>
      </p:sp>
      <p:sp>
        <p:nvSpPr>
          <p:cNvPr id="35" name="Yahoo on demand"/>
          <p:cNvSpPr/>
          <p:nvPr/>
        </p:nvSpPr>
        <p:spPr>
          <a:xfrm>
            <a:off x="3383280" y="5303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6" name="Yahoo on demand label"/>
          <p:cNvSpPr txBox="1"/>
          <p:nvPr/>
        </p:nvSpPr>
        <p:spPr>
          <a:xfrm>
            <a:off x="3383280" y="530352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Yahoo on demand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optional Cloudflare worker</a:t>
            </a:r>
            <a:endParaRPr lang="en-US" sz="1100" dirty="0"/>
          </a:p>
        </p:txBody>
      </p:sp>
      <p:sp>
        <p:nvSpPr>
          <p:cNvPr id="37" name="Finnhub websocket"/>
          <p:cNvSpPr/>
          <p:nvPr/>
        </p:nvSpPr>
        <p:spPr>
          <a:xfrm>
            <a:off x="6217920" y="530352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8" name="Finnhub websocket label"/>
          <p:cNvSpPr txBox="1"/>
          <p:nvPr/>
        </p:nvSpPr>
        <p:spPr>
          <a:xfrm>
            <a:off x="6217920" y="5303520"/>
            <a:ext cx="26517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Finnhub websocket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owner's own key, 2.5 s ticks</a:t>
            </a:r>
            <a:endParaRPr lang="en-US" sz="1100" dirty="0"/>
          </a:p>
        </p:txBody>
      </p:sp>
      <p:sp>
        <p:nvSpPr>
          <p:cNvPr id="39" name="localStorage (sd-*)"/>
          <p:cNvSpPr/>
          <p:nvPr/>
        </p:nvSpPr>
        <p:spPr>
          <a:xfrm>
            <a:off x="9052560" y="530352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40" name="localStorage (sd-*) label"/>
          <p:cNvSpPr txBox="1"/>
          <p:nvPr/>
        </p:nvSpPr>
        <p:spPr>
          <a:xfrm>
            <a:off x="9052560" y="530352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localStorage (sd-*)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7202E"/>
                </a:solidFill>
              </a:rPr>
              <a:t>watchlists, portfolios, keys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Inside the bot — modules and one decision cycle</a:t>
            </a:r>
            <a:endParaRPr lang="en-US" sz="3200" dirty="0"/>
          </a:p>
        </p:txBody>
      </p:sp>
      <p:sp>
        <p:nvSpPr>
          <p:cNvPr id="3" name="live.mjs"/>
          <p:cNvSpPr/>
          <p:nvPr/>
        </p:nvSpPr>
        <p:spPr>
          <a:xfrm>
            <a:off x="5486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4" name="live.mjs label"/>
          <p:cNvSpPr txBox="1"/>
          <p:nvPr/>
        </p:nvSpPr>
        <p:spPr>
          <a:xfrm>
            <a:off x="5486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live.mjs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session runner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websockets, wake queue,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2 s beat, config hot-reload</a:t>
            </a:r>
            <a:endParaRPr lang="en-US" sz="1200" dirty="0"/>
          </a:p>
        </p:txBody>
      </p:sp>
      <p:sp>
        <p:nvSpPr>
          <p:cNvPr id="5" name="bot.mjs"/>
          <p:cNvSpPr/>
          <p:nvPr/>
        </p:nvSpPr>
        <p:spPr>
          <a:xfrm>
            <a:off x="21488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6" name="bot.mjs label"/>
          <p:cNvSpPr txBox="1"/>
          <p:nvPr/>
        </p:nvSpPr>
        <p:spPr>
          <a:xfrm>
            <a:off x="21488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decision 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entries, exits, floors,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breakers, journal</a:t>
            </a:r>
            <a:endParaRPr lang="en-US" sz="1200" dirty="0"/>
          </a:p>
        </p:txBody>
      </p:sp>
      <p:sp>
        <p:nvSpPr>
          <p:cNvPr id="7" name="strategy.mjs"/>
          <p:cNvSpPr/>
          <p:nvPr/>
        </p:nvSpPr>
        <p:spPr>
          <a:xfrm>
            <a:off x="37490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8" name="strategy.mjs label"/>
          <p:cNvSpPr txBox="1"/>
          <p:nvPr/>
        </p:nvSpPr>
        <p:spPr>
          <a:xfrm>
            <a:off x="37490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strategy.mjs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indicators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SMA, RSI-2,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exit rule</a:t>
            </a:r>
            <a:endParaRPr lang="en-US" sz="1200" dirty="0"/>
          </a:p>
        </p:txBody>
      </p:sp>
      <p:sp>
        <p:nvSpPr>
          <p:cNvPr id="9" name="risk.mjs"/>
          <p:cNvSpPr/>
          <p:nvPr/>
        </p:nvSpPr>
        <p:spPr>
          <a:xfrm>
            <a:off x="53492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0" name="risk.mjs label"/>
          <p:cNvSpPr txBox="1"/>
          <p:nvPr/>
        </p:nvSpPr>
        <p:spPr>
          <a:xfrm>
            <a:off x="53492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risk.mjs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money management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sizing, heat, sector caps,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regime, loss streak</a:t>
            </a:r>
            <a:endParaRPr lang="en-US" sz="1200" dirty="0"/>
          </a:p>
        </p:txBody>
      </p:sp>
      <p:sp>
        <p:nvSpPr>
          <p:cNvPr id="11" name="news.mjs"/>
          <p:cNvSpPr/>
          <p:nvPr/>
        </p:nvSpPr>
        <p:spPr>
          <a:xfrm>
            <a:off x="69494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2" name="news.mjs label"/>
          <p:cNvSpPr txBox="1"/>
          <p:nvPr/>
        </p:nvSpPr>
        <p:spPr>
          <a:xfrm>
            <a:off x="69494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news.mjs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guards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event calendar,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headline classifier · telegram.mjs: alerts + /commands</a:t>
            </a:r>
            <a:endParaRPr lang="en-US" sz="1200" dirty="0"/>
          </a:p>
        </p:txBody>
      </p:sp>
      <p:sp>
        <p:nvSpPr>
          <p:cNvPr id="13" name="config.mjs"/>
          <p:cNvSpPr/>
          <p:nvPr/>
        </p:nvSpPr>
        <p:spPr>
          <a:xfrm>
            <a:off x="85496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4" name="config.mjs label"/>
          <p:cNvSpPr txBox="1"/>
          <p:nvPr/>
        </p:nvSpPr>
        <p:spPr>
          <a:xfrm>
            <a:off x="85496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config.mjs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settings schema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presets, ranges,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normalise</a:t>
            </a:r>
            <a:endParaRPr lang="en-US" sz="1200" dirty="0"/>
          </a:p>
        </p:txBody>
      </p:sp>
      <p:sp>
        <p:nvSpPr>
          <p:cNvPr id="15" name="journal.mjs"/>
          <p:cNvSpPr/>
          <p:nvPr/>
        </p:nvSpPr>
        <p:spPr>
          <a:xfrm>
            <a:off x="10149840" y="1371600"/>
            <a:ext cx="1508760" cy="1371600"/>
          </a:xfrm>
          <a:prstGeom prst="roundRect">
            <a:avLst>
              <a:gd name="adj" fmla="val 533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6" name="journal.mjs label"/>
          <p:cNvSpPr txBox="1"/>
          <p:nvPr/>
        </p:nvSpPr>
        <p:spPr>
          <a:xfrm>
            <a:off x="10149840" y="1371600"/>
            <a:ext cx="150876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journal.mjs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FIFO pairing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fills → round trips</a:t>
            </a:r>
            <a:endParaRPr lang="en-US" sz="1200" dirty="0"/>
          </a:p>
        </p:txBody>
      </p:sp>
      <p:sp>
        <p:nvSpPr>
          <p:cNvPr id="17" name="cycle title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02E"/>
                </a:solidFill>
              </a:rPr>
              <a:t>One cycle (botCycle), run on every fill, tick-triggered event, settings change or 2-second beat:</a:t>
            </a:r>
            <a:endParaRPr lang="en-US" sz="1400" dirty="0"/>
          </a:p>
        </p:txBody>
      </p:sp>
      <p:sp>
        <p:nvSpPr>
          <p:cNvPr id="18" name="Load bars + live prices"/>
          <p:cNvSpPr/>
          <p:nvPr/>
        </p:nvSpPr>
        <p:spPr>
          <a:xfrm>
            <a:off x="54864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9" name="Load bars + live prices label"/>
          <p:cNvSpPr txBox="1"/>
          <p:nvPr/>
        </p:nvSpPr>
        <p:spPr>
          <a:xfrm>
            <a:off x="548640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Load bars + live prices</a:t>
            </a:r>
            <a:endParaRPr lang="en-US" sz="1100" dirty="0"/>
          </a:p>
        </p:txBody>
      </p:sp>
      <p:sp>
        <p:nvSpPr>
          <p:cNvPr id="20" name="arrow "/>
          <p:cNvSpPr/>
          <p:nvPr/>
        </p:nvSpPr>
        <p:spPr>
          <a:xfrm>
            <a:off x="2011680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1" name="Guards: news, calendar, breakers, PDT"/>
          <p:cNvSpPr/>
          <p:nvPr/>
        </p:nvSpPr>
        <p:spPr>
          <a:xfrm>
            <a:off x="2176272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2" name="Guards: news, calendar, breakers, PDT label"/>
          <p:cNvSpPr txBox="1"/>
          <p:nvPr/>
        </p:nvSpPr>
        <p:spPr>
          <a:xfrm>
            <a:off x="2176272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Guards: news, calendar, breakers, PDT</a:t>
            </a:r>
            <a:endParaRPr lang="en-US" sz="1100" dirty="0"/>
          </a:p>
        </p:txBody>
      </p:sp>
      <p:sp>
        <p:nvSpPr>
          <p:cNvPr id="23" name="arrow "/>
          <p:cNvSpPr/>
          <p:nvPr/>
        </p:nvSpPr>
        <p:spPr>
          <a:xfrm>
            <a:off x="3639312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4" name="Signals: RSI-2 &lt; 10 above 200-day"/>
          <p:cNvSpPr/>
          <p:nvPr/>
        </p:nvSpPr>
        <p:spPr>
          <a:xfrm>
            <a:off x="3803904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5" name="Signals: RSI-2 &lt; 10 above 200-day label"/>
          <p:cNvSpPr txBox="1"/>
          <p:nvPr/>
        </p:nvSpPr>
        <p:spPr>
          <a:xfrm>
            <a:off x="3803904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Signals: RSI-2 &lt; 10 above 200-day</a:t>
            </a:r>
            <a:endParaRPr lang="en-US" sz="1100" dirty="0"/>
          </a:p>
        </p:txBody>
      </p:sp>
      <p:sp>
        <p:nvSpPr>
          <p:cNvPr id="26" name="arrow "/>
          <p:cNvSpPr/>
          <p:nvPr/>
        </p:nvSpPr>
        <p:spPr>
          <a:xfrm>
            <a:off x="5266944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7" name="Size: 0.5 % risk, heat ≤ 3 %, ≤ 2 / sector"/>
          <p:cNvSpPr/>
          <p:nvPr/>
        </p:nvSpPr>
        <p:spPr>
          <a:xfrm>
            <a:off x="5431536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8" name="Size: 0.5 % risk, heat ≤ 3 %, ≤ 2 / sector label"/>
          <p:cNvSpPr txBox="1"/>
          <p:nvPr/>
        </p:nvSpPr>
        <p:spPr>
          <a:xfrm>
            <a:off x="5431536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Size: 0.5 % risk, heat ≤ 3 %, ≤ 2 / sector</a:t>
            </a:r>
            <a:endParaRPr lang="en-US" sz="1100" dirty="0"/>
          </a:p>
        </p:txBody>
      </p:sp>
      <p:sp>
        <p:nvSpPr>
          <p:cNvPr id="29" name="arrow "/>
          <p:cNvSpPr/>
          <p:nvPr/>
        </p:nvSpPr>
        <p:spPr>
          <a:xfrm>
            <a:off x="6894576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Orders: resting limits, idempotent"/>
          <p:cNvSpPr/>
          <p:nvPr/>
        </p:nvSpPr>
        <p:spPr>
          <a:xfrm>
            <a:off x="7059168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31" name="Orders: resting limits, idempotent label"/>
          <p:cNvSpPr txBox="1"/>
          <p:nvPr/>
        </p:nvSpPr>
        <p:spPr>
          <a:xfrm>
            <a:off x="7059168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Orders: resting limits, idempotent</a:t>
            </a:r>
            <a:endParaRPr lang="en-US" sz="1100" dirty="0"/>
          </a:p>
        </p:txBody>
      </p:sp>
      <p:sp>
        <p:nvSpPr>
          <p:cNvPr id="32" name="arrow "/>
          <p:cNvSpPr/>
          <p:nvPr/>
        </p:nvSpPr>
        <p:spPr>
          <a:xfrm>
            <a:off x="8522208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Exits: floors, take-profits, close window"/>
          <p:cNvSpPr/>
          <p:nvPr/>
        </p:nvSpPr>
        <p:spPr>
          <a:xfrm>
            <a:off x="8686800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4" name="Exits: floors, take-profits, close window label"/>
          <p:cNvSpPr txBox="1"/>
          <p:nvPr/>
        </p:nvSpPr>
        <p:spPr>
          <a:xfrm>
            <a:off x="8686800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Exits: floors, take-profits, close window</a:t>
            </a:r>
            <a:endParaRPr lang="en-US" sz="1100" dirty="0"/>
          </a:p>
        </p:txBody>
      </p:sp>
      <p:sp>
        <p:nvSpPr>
          <p:cNvPr id="35" name="arrow "/>
          <p:cNvSpPr/>
          <p:nvPr/>
        </p:nvSpPr>
        <p:spPr>
          <a:xfrm>
            <a:off x="10149840" y="4069080"/>
            <a:ext cx="164592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Journal + alert"/>
          <p:cNvSpPr/>
          <p:nvPr/>
        </p:nvSpPr>
        <p:spPr>
          <a:xfrm>
            <a:off x="10314432" y="3566160"/>
            <a:ext cx="1463040" cy="1005840"/>
          </a:xfrm>
          <a:prstGeom prst="roundRect">
            <a:avLst>
              <a:gd name="adj" fmla="val 7273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37" name="Journal + alert label"/>
          <p:cNvSpPr txBox="1"/>
          <p:nvPr/>
        </p:nvSpPr>
        <p:spPr>
          <a:xfrm>
            <a:off x="10314432" y="3566160"/>
            <a:ext cx="146304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Journal + alert</a:t>
            </a:r>
            <a:endParaRPr lang="en-US" sz="1100" dirty="0"/>
          </a:p>
        </p:txBody>
      </p:sp>
      <p:sp>
        <p:nvSpPr>
          <p:cNvPr id="38" name="bot footer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678"/>
                </a:solidFill>
              </a:rPr>
              <a:t>Zero npm dependencies · Node 20+ · 57 unit tests + 48 order checks in CI · integration-tested against mock brokers with a fake clock</a:t>
            </a:r>
            <a:endParaRPr lang="en-US" sz="1200" dirty="0"/>
          </a:p>
        </p:txBody>
      </p:sp>
      <p:sp>
        <p:nvSpPr>
          <p:cNvPr id="39" name="bot latency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86"/>
                </a:solidFill>
              </a:rPr>
              <a:t>Measured: fill → take-profit order 40 ms · crash tick → floor exit 110 ms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Real-time engine — event-driven, not polled</a:t>
            </a:r>
            <a:endParaRPr lang="en-US" sz="3200" dirty="0"/>
          </a:p>
        </p:txBody>
      </p:sp>
      <p:sp>
        <p:nvSpPr>
          <p:cNvPr id="3" name="Alpaca IEX market data"/>
          <p:cNvSpPr/>
          <p:nvPr/>
        </p:nvSpPr>
        <p:spPr>
          <a:xfrm>
            <a:off x="548640" y="13716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4" name="Alpaca IEX market data label"/>
          <p:cNvSpPr txBox="1"/>
          <p:nvPr/>
        </p:nvSpPr>
        <p:spPr>
          <a:xfrm>
            <a:off x="548640" y="137160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Alpaca IEX market data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websocket: every trade tick</a:t>
            </a:r>
            <a:endParaRPr lang="en-US" sz="1200" dirty="0"/>
          </a:p>
        </p:txBody>
      </p:sp>
      <p:sp>
        <p:nvSpPr>
          <p:cNvPr id="5" name="Alpaca trade-updates"/>
          <p:cNvSpPr/>
          <p:nvPr/>
        </p:nvSpPr>
        <p:spPr>
          <a:xfrm>
            <a:off x="548640" y="274320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6" name="Alpaca trade-updates label"/>
          <p:cNvSpPr txBox="1"/>
          <p:nvPr/>
        </p:nvSpPr>
        <p:spPr>
          <a:xfrm>
            <a:off x="548640" y="274320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Alpaca trade-updates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websocket: every fill / cancel</a:t>
            </a:r>
            <a:endParaRPr lang="en-US" sz="1200" dirty="0"/>
          </a:p>
        </p:txBody>
      </p:sp>
      <p:sp>
        <p:nvSpPr>
          <p:cNvPr id="7" name="Beat"/>
          <p:cNvSpPr/>
          <p:nvPr/>
        </p:nvSpPr>
        <p:spPr>
          <a:xfrm>
            <a:off x="548640" y="384048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8" name="Beat label"/>
          <p:cNvSpPr txBox="1"/>
          <p:nvPr/>
        </p:nvSpPr>
        <p:spPr>
          <a:xfrm>
            <a:off x="548640" y="384048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Beat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2 s · 1 s after 15:50</a:t>
            </a:r>
            <a:endParaRPr lang="en-US" sz="1200" dirty="0"/>
          </a:p>
        </p:txBody>
      </p:sp>
      <p:sp>
        <p:nvSpPr>
          <p:cNvPr id="9" name="config.json poll"/>
          <p:cNvSpPr/>
          <p:nvPr/>
        </p:nvSpPr>
        <p:spPr>
          <a:xfrm>
            <a:off x="548640" y="4937760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0" name="config.json poll label"/>
          <p:cNvSpPr txBox="1"/>
          <p:nvPr/>
        </p:nvSpPr>
        <p:spPr>
          <a:xfrm>
            <a:off x="548640" y="4937760"/>
            <a:ext cx="256032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config.json poll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every 60 s, from the public site</a:t>
            </a:r>
            <a:endParaRPr lang="en-US" sz="1200" dirty="0"/>
          </a:p>
        </p:txBody>
      </p:sp>
      <p:sp>
        <p:nvSpPr>
          <p:cNvPr id="11" name="livePx"/>
          <p:cNvSpPr/>
          <p:nvPr/>
        </p:nvSpPr>
        <p:spPr>
          <a:xfrm>
            <a:off x="420624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2" name="livePx label"/>
          <p:cNvSpPr txBox="1"/>
          <p:nvPr/>
        </p:nvSpPr>
        <p:spPr>
          <a:xfrm>
            <a:off x="420624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livePx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latest price per symbol</a:t>
            </a:r>
            <a:endParaRPr lang="en-US" sz="1200" dirty="0"/>
          </a:p>
        </p:txBody>
      </p:sp>
      <p:sp>
        <p:nvSpPr>
          <p:cNvPr id="13" name="Wake queue"/>
          <p:cNvSpPr/>
          <p:nvPr/>
        </p:nvSpPr>
        <p:spPr>
          <a:xfrm>
            <a:off x="4206240" y="3108960"/>
            <a:ext cx="2011680" cy="2103120"/>
          </a:xfrm>
          <a:prstGeom prst="roundRect">
            <a:avLst>
              <a:gd name="adj" fmla="val 3636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4" name="Wake queue label"/>
          <p:cNvSpPr txBox="1"/>
          <p:nvPr/>
        </p:nvSpPr>
        <p:spPr>
          <a:xfrm>
            <a:off x="4206240" y="3108960"/>
            <a:ext cx="20116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Wake queue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runs a cycle when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something happened,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≥ 250 ms apart</a:t>
            </a:r>
            <a:endParaRPr lang="en-US" sz="1200" dirty="0"/>
          </a:p>
        </p:txBody>
      </p:sp>
      <p:sp>
        <p:nvSpPr>
          <p:cNvPr id="15" name="fastCheck"/>
          <p:cNvSpPr/>
          <p:nvPr/>
        </p:nvSpPr>
        <p:spPr>
          <a:xfrm>
            <a:off x="7132320" y="137160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B23A48"/>
          </a:solidFill>
          <a:ln w="12700">
            <a:solidFill>
              <a:srgbClr val="B23A48"/>
            </a:solidFill>
            <a:prstDash val="solid"/>
          </a:ln>
        </p:spPr>
        <p:txBody>
          <a:bodyPr/>
          <a:p/>
        </p:txBody>
      </p:sp>
      <p:sp>
        <p:nvSpPr>
          <p:cNvPr id="16" name="fastCheck label"/>
          <p:cNvSpPr txBox="1"/>
          <p:nvPr/>
        </p:nvSpPr>
        <p:spPr>
          <a:xfrm>
            <a:off x="7132320" y="137160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fastCheck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floors, take-profits</a:t>
            </a:r>
            <a:endParaRPr lang="en-US" sz="1200" dirty="0"/>
          </a:p>
        </p:txBody>
      </p:sp>
      <p:sp>
        <p:nvSpPr>
          <p:cNvPr id="17" name="botCycle"/>
          <p:cNvSpPr/>
          <p:nvPr/>
        </p:nvSpPr>
        <p:spPr>
          <a:xfrm>
            <a:off x="7132320" y="3749040"/>
            <a:ext cx="2011680" cy="822960"/>
          </a:xfrm>
          <a:prstGeom prst="roundRect">
            <a:avLst>
              <a:gd name="adj" fmla="val 8889"/>
            </a:avLst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p/>
        </p:txBody>
      </p:sp>
      <p:sp>
        <p:nvSpPr>
          <p:cNvPr id="18" name="botCycle label"/>
          <p:cNvSpPr txBox="1"/>
          <p:nvPr/>
        </p:nvSpPr>
        <p:spPr>
          <a:xfrm>
            <a:off x="7132320" y="3749040"/>
            <a:ext cx="2011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botCycle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full decision cycle</a:t>
            </a:r>
            <a:endParaRPr lang="en-US" sz="1200" dirty="0"/>
          </a:p>
        </p:txBody>
      </p:sp>
      <p:sp>
        <p:nvSpPr>
          <p:cNvPr id="19" name="Alpaca REST"/>
          <p:cNvSpPr/>
          <p:nvPr/>
        </p:nvSpPr>
        <p:spPr>
          <a:xfrm>
            <a:off x="9875520" y="137160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0" name="Alpaca REST label"/>
          <p:cNvSpPr txBox="1"/>
          <p:nvPr/>
        </p:nvSpPr>
        <p:spPr>
          <a:xfrm>
            <a:off x="9875520" y="1371600"/>
            <a:ext cx="173736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Alpaca REST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orders</a:t>
            </a:r>
            <a:endParaRPr lang="en-US" sz="1200" dirty="0"/>
          </a:p>
        </p:txBody>
      </p:sp>
      <p:sp>
        <p:nvSpPr>
          <p:cNvPr id="21" name="journal.json"/>
          <p:cNvSpPr/>
          <p:nvPr/>
        </p:nvSpPr>
        <p:spPr>
          <a:xfrm>
            <a:off x="9875520" y="310896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2" name="journal.json label"/>
          <p:cNvSpPr txBox="1"/>
          <p:nvPr/>
        </p:nvSpPr>
        <p:spPr>
          <a:xfrm>
            <a:off x="9875520" y="310896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journal.json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commit every 10 min</a:t>
            </a:r>
            <a:endParaRPr lang="en-US" sz="1200" dirty="0"/>
          </a:p>
        </p:txBody>
      </p:sp>
      <p:sp>
        <p:nvSpPr>
          <p:cNvPr id="23" name="ntfy"/>
          <p:cNvSpPr/>
          <p:nvPr/>
        </p:nvSpPr>
        <p:spPr>
          <a:xfrm>
            <a:off x="9875520" y="420624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4" name="ntfy label"/>
          <p:cNvSpPr txBox="1"/>
          <p:nvPr/>
        </p:nvSpPr>
        <p:spPr>
          <a:xfrm>
            <a:off x="9875520" y="4206240"/>
            <a:ext cx="173736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7202E"/>
                </a:solidFill>
              </a:rPr>
              <a:t>Telegram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7202E"/>
                </a:solidFill>
              </a:rPr>
              <a:t>phone alert</a:t>
            </a:r>
            <a:endParaRPr lang="en-US" sz="1200" dirty="0"/>
          </a:p>
        </p:txBody>
      </p:sp>
      <p:sp>
        <p:nvSpPr>
          <p:cNvPr id="25" name="arrow tick"/>
          <p:cNvSpPr/>
          <p:nvPr/>
        </p:nvSpPr>
        <p:spPr>
          <a:xfrm>
            <a:off x="3108960" y="1783080"/>
            <a:ext cx="109728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6" name="label tick"/>
          <p:cNvSpPr txBox="1"/>
          <p:nvPr/>
        </p:nvSpPr>
        <p:spPr>
          <a:xfrm>
            <a:off x="3429000" y="1664208"/>
            <a:ext cx="45720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tick</a:t>
            </a:r>
            <a:endParaRPr lang="en-US" sz="900" dirty="0"/>
          </a:p>
        </p:txBody>
      </p:sp>
      <p:sp>
        <p:nvSpPr>
          <p:cNvPr id="27" name="arrow "/>
          <p:cNvSpPr/>
          <p:nvPr/>
        </p:nvSpPr>
        <p:spPr>
          <a:xfrm>
            <a:off x="6217920" y="1783080"/>
            <a:ext cx="91440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8" name="arrow "/>
          <p:cNvSpPr/>
          <p:nvPr/>
        </p:nvSpPr>
        <p:spPr>
          <a:xfrm>
            <a:off x="9144000" y="1783080"/>
            <a:ext cx="73152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29" name="arrow fill / cancel"/>
          <p:cNvSpPr/>
          <p:nvPr/>
        </p:nvSpPr>
        <p:spPr>
          <a:xfrm>
            <a:off x="3108960" y="3154680"/>
            <a:ext cx="1097280" cy="32004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0" name="label fill / cancel"/>
          <p:cNvSpPr txBox="1"/>
          <p:nvPr/>
        </p:nvSpPr>
        <p:spPr>
          <a:xfrm>
            <a:off x="3207715" y="3058668"/>
            <a:ext cx="899770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fill / cancel</a:t>
            </a:r>
            <a:endParaRPr lang="en-US" sz="900" dirty="0"/>
          </a:p>
        </p:txBody>
      </p:sp>
      <p:sp>
        <p:nvSpPr>
          <p:cNvPr id="31" name="arrow "/>
          <p:cNvSpPr/>
          <p:nvPr/>
        </p:nvSpPr>
        <p:spPr>
          <a:xfrm flipV="1">
            <a:off x="3108960" y="4160520"/>
            <a:ext cx="1097280" cy="9144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2" name="arrow changed"/>
          <p:cNvSpPr/>
          <p:nvPr/>
        </p:nvSpPr>
        <p:spPr>
          <a:xfrm flipV="1">
            <a:off x="3108960" y="4846320"/>
            <a:ext cx="1097280" cy="50292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3" name="label changed"/>
          <p:cNvSpPr txBox="1"/>
          <p:nvPr/>
        </p:nvSpPr>
        <p:spPr>
          <a:xfrm>
            <a:off x="3394253" y="5116068"/>
            <a:ext cx="526694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changed</a:t>
            </a:r>
            <a:endParaRPr lang="en-US" sz="900" dirty="0"/>
          </a:p>
        </p:txBody>
      </p:sp>
      <p:sp>
        <p:nvSpPr>
          <p:cNvPr id="34" name="arrow "/>
          <p:cNvSpPr/>
          <p:nvPr/>
        </p:nvSpPr>
        <p:spPr>
          <a:xfrm>
            <a:off x="6217920" y="4160520"/>
            <a:ext cx="914400" cy="9144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5" name="arrow orders"/>
          <p:cNvSpPr/>
          <p:nvPr/>
        </p:nvSpPr>
        <p:spPr>
          <a:xfrm flipV="1">
            <a:off x="9144000" y="1920240"/>
            <a:ext cx="731520" cy="201168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6" name="label orders"/>
          <p:cNvSpPr txBox="1"/>
          <p:nvPr/>
        </p:nvSpPr>
        <p:spPr>
          <a:xfrm>
            <a:off x="9277502" y="2807208"/>
            <a:ext cx="464515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678"/>
                </a:solidFill>
              </a:rPr>
              <a:t>orders</a:t>
            </a:r>
            <a:endParaRPr lang="en-US" sz="900" dirty="0"/>
          </a:p>
        </p:txBody>
      </p:sp>
      <p:sp>
        <p:nvSpPr>
          <p:cNvPr id="37" name="arrow "/>
          <p:cNvSpPr/>
          <p:nvPr/>
        </p:nvSpPr>
        <p:spPr>
          <a:xfrm flipV="1">
            <a:off x="9144000" y="3474720"/>
            <a:ext cx="731520" cy="64008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8" name="arrow "/>
          <p:cNvSpPr/>
          <p:nvPr/>
        </p:nvSpPr>
        <p:spPr>
          <a:xfrm>
            <a:off x="9144000" y="4297680"/>
            <a:ext cx="731520" cy="274320"/>
          </a:xfrm>
          <a:prstGeom prst="line">
            <a:avLst/>
          </a:prstGeom>
          <a:noFill/>
          <a:ln w="15875">
            <a:solidFill>
              <a:srgbClr val="5B6678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9" name="Fallback: if a stream ever drops, REST polling takes over automatically"/>
          <p:cNvSpPr/>
          <p:nvPr/>
        </p:nvSpPr>
        <p:spPr>
          <a:xfrm>
            <a:off x="548640" y="5943600"/>
            <a:ext cx="566928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C9D1DE"/>
            </a:solidFill>
            <a:prstDash val="solid"/>
          </a:ln>
        </p:spPr>
        <p:txBody>
          <a:bodyPr/>
          <a:p/>
        </p:txBody>
      </p:sp>
      <p:sp>
        <p:nvSpPr>
          <p:cNvPr id="40" name="Fallback: if a stream ever drops, REST polling takes over automatically label"/>
          <p:cNvSpPr txBox="1"/>
          <p:nvPr/>
        </p:nvSpPr>
        <p:spPr>
          <a:xfrm>
            <a:off x="548640" y="5943600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202E"/>
                </a:solidFill>
              </a:rPr>
              <a:t>Fallback: if a stream ever drops, REST polling takes over automatically</a:t>
            </a:r>
            <a:endParaRPr lang="en-US" sz="1000" dirty="0"/>
          </a:p>
        </p:txBody>
      </p:sp>
      <p:sp>
        <p:nvSpPr>
          <p:cNvPr id="41" name="rt latency"/>
          <p:cNvSpPr txBox="1"/>
          <p:nvPr/>
        </p:nvSpPr>
        <p:spPr>
          <a:xfrm>
            <a:off x="6400800" y="5943600"/>
            <a:ext cx="5212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7C86"/>
                </a:solidFill>
              </a:rPr>
              <a:t>Measured against a mock broker: fill → take-profit order 40 ms · crash tick → floor exit 110 ms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Strategy — RSI-2 dip buying, tested over 33 years</a:t>
            </a:r>
            <a:endParaRPr lang="en-US" sz="3200" dirty="0"/>
          </a:p>
        </p:txBody>
      </p:sp>
      <p:sp>
        <p:nvSpPr>
          <p:cNvPr id="3" name="rule Entry window"/>
          <p:cNvSpPr txBox="1"/>
          <p:nvPr/>
        </p:nvSpPr>
        <p:spPr>
          <a:xfrm>
            <a:off x="548640" y="132588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Entry window</a:t>
            </a:r>
            <a:endParaRPr lang="en-US" sz="1400" dirty="0"/>
          </a:p>
        </p:txBody>
      </p:sp>
      <p:sp>
        <p:nvSpPr>
          <p:cNvPr id="4" name="rule t Entry window"/>
          <p:cNvSpPr txBox="1"/>
          <p:nvPr/>
        </p:nvSpPr>
        <p:spPr>
          <a:xfrm>
            <a:off x="2286000" y="13258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9:45 → 11:00 ET (after 10:15 on CPI/jobs days)</a:t>
            </a:r>
            <a:endParaRPr lang="en-US" sz="1200" dirty="0"/>
          </a:p>
        </p:txBody>
      </p:sp>
      <p:sp>
        <p:nvSpPr>
          <p:cNvPr id="5" name="rule Buy when"/>
          <p:cNvSpPr txBox="1"/>
          <p:nvPr/>
        </p:nvSpPr>
        <p:spPr>
          <a:xfrm>
            <a:off x="548640" y="198424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Buy when</a:t>
            </a:r>
            <a:endParaRPr lang="en-US" sz="1400" dirty="0"/>
          </a:p>
        </p:txBody>
      </p:sp>
      <p:sp>
        <p:nvSpPr>
          <p:cNvPr id="6" name="rule t Buy when"/>
          <p:cNvSpPr txBox="1"/>
          <p:nvPr/>
        </p:nvSpPr>
        <p:spPr>
          <a:xfrm>
            <a:off x="2286000" y="1984248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close above 200-day SMA, RSI-2 below 10, not bounced 1 %+ — deepest dips first</a:t>
            </a:r>
            <a:endParaRPr lang="en-US" sz="1200" dirty="0"/>
          </a:p>
        </p:txBody>
      </p:sp>
      <p:sp>
        <p:nvSpPr>
          <p:cNvPr id="7" name="rule Size"/>
          <p:cNvSpPr txBox="1"/>
          <p:nvPr/>
        </p:nvSpPr>
        <p:spPr>
          <a:xfrm>
            <a:off x="548640" y="2642616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Size</a:t>
            </a:r>
            <a:endParaRPr lang="en-US" sz="1400" dirty="0"/>
          </a:p>
        </p:txBody>
      </p:sp>
      <p:sp>
        <p:nvSpPr>
          <p:cNvPr id="8" name="rule t Size"/>
          <p:cNvSpPr txBox="1"/>
          <p:nvPr/>
        </p:nvSpPr>
        <p:spPr>
          <a:xfrm>
            <a:off x="2286000" y="2642616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risk 0.5 % of equity per trade, max 10 % per position, heat ≤ 3 %, ≤ 2 per sector</a:t>
            </a:r>
            <a:endParaRPr lang="en-US" sz="1200" dirty="0"/>
          </a:p>
        </p:txBody>
      </p:sp>
      <p:sp>
        <p:nvSpPr>
          <p:cNvPr id="9" name="rule Options"/>
          <p:cNvSpPr txBox="1"/>
          <p:nvPr/>
        </p:nvSpPr>
        <p:spPr>
          <a:xfrm>
            <a:off x="548640" y="3300984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Options</a:t>
            </a:r>
            <a:endParaRPr lang="en-US" sz="1400" dirty="0"/>
          </a:p>
        </p:txBody>
      </p:sp>
      <p:sp>
        <p:nvSpPr>
          <p:cNvPr id="10" name="rule t Options"/>
          <p:cNvSpPr txBox="1"/>
          <p:nvPr/>
        </p:nvSpPr>
        <p:spPr>
          <a:xfrm>
            <a:off x="2286000" y="3300984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CALL nearest strike, 14–35 DTE, on the same dips; +50 % take-profit resting order, −50 % stop</a:t>
            </a:r>
            <a:endParaRPr lang="en-US" sz="1200" dirty="0"/>
          </a:p>
        </p:txBody>
      </p:sp>
      <p:sp>
        <p:nvSpPr>
          <p:cNvPr id="11" name="rule Exit"/>
          <p:cNvSpPr txBox="1"/>
          <p:nvPr/>
        </p:nvSpPr>
        <p:spPr>
          <a:xfrm>
            <a:off x="548640" y="395935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Exit</a:t>
            </a:r>
            <a:endParaRPr lang="en-US" sz="1400" dirty="0"/>
          </a:p>
        </p:txBody>
      </p:sp>
      <p:sp>
        <p:nvSpPr>
          <p:cNvPr id="12" name="rule t Exit"/>
          <p:cNvSpPr txBox="1"/>
          <p:nvPr/>
        </p:nvSpPr>
        <p:spPr>
          <a:xfrm>
            <a:off x="2286000" y="3959352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last 10 min once close &gt; 5-day SMA, or after 10 sessions; −25 % hard floor fires within a second</a:t>
            </a:r>
            <a:endParaRPr lang="en-US" sz="1200" dirty="0"/>
          </a:p>
        </p:txBody>
      </p:sp>
      <p:sp>
        <p:nvSpPr>
          <p:cNvPr id="13" name="rule Guards"/>
          <p:cNvSpPr txBox="1"/>
          <p:nvPr/>
        </p:nvSpPr>
        <p:spPr>
          <a:xfrm>
            <a:off x="548640" y="461772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Guards</a:t>
            </a:r>
            <a:endParaRPr lang="en-US" sz="1400" dirty="0"/>
          </a:p>
        </p:txBody>
      </p:sp>
      <p:sp>
        <p:nvSpPr>
          <p:cNvPr id="14" name="rule t Guards"/>
          <p:cNvSpPr txBox="1"/>
          <p:nvPr/>
        </p:nvSpPr>
        <p:spPr>
          <a:xfrm>
            <a:off x="2286000" y="46177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202E"/>
                </a:solidFill>
              </a:rPr>
              <a:t>FOMC / CPI / jobs windows, headline scan, SPY tone; −3 % day, −6 % week, 3-loss streak</a:t>
            </a:r>
            <a:endParaRPr lang="en-US" sz="12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7680960" y="1280160"/>
          <a:ext cx="402336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hart note"/>
          <p:cNvSpPr txBox="1"/>
          <p:nvPr/>
        </p:nvSpPr>
        <p:spPr>
          <a:xfrm>
            <a:off x="7680960" y="5257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678"/>
                </a:solidFill>
              </a:rPr>
              <a:t>Sharpe 1.45, max drawdown −11.9 % out of sample. Survivorship bias flatters every row; not a forecast.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Security model — what is public, what never leaves where</a:t>
            </a:r>
            <a:endParaRPr lang="en-US" sz="3200" dirty="0"/>
          </a:p>
        </p:txBody>
      </p:sp>
      <p:sp>
        <p:nvSpPr>
          <p:cNvPr id="3" name="group Public (GitHub Pages)"/>
          <p:cNvSpPr/>
          <p:nvPr/>
        </p:nvSpPr>
        <p:spPr>
          <a:xfrm>
            <a:off x="548640" y="137160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4" name="group title Public (GitHub Pages)"/>
          <p:cNvSpPr txBox="1"/>
          <p:nvPr/>
        </p:nvSpPr>
        <p:spPr>
          <a:xfrm>
            <a:off x="6400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Public (GitHub Pages)</a:t>
            </a:r>
            <a:endParaRPr lang="en-US" sz="1100" dirty="0"/>
          </a:p>
        </p:txBody>
      </p:sp>
      <p:sp>
        <p:nvSpPr>
          <p:cNvPr id="5" name="Page code"/>
          <p:cNvSpPr/>
          <p:nvPr/>
        </p:nvSpPr>
        <p:spPr>
          <a:xfrm>
            <a:off x="731520" y="18288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6" name="Page code label"/>
          <p:cNvSpPr txBox="1"/>
          <p:nvPr/>
        </p:nvSpPr>
        <p:spPr>
          <a:xfrm>
            <a:off x="73152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Page code</a:t>
            </a:r>
            <a:endParaRPr lang="en-US" sz="1100" dirty="0"/>
          </a:p>
        </p:txBody>
      </p:sp>
      <p:sp>
        <p:nvSpPr>
          <p:cNvPr id="7" name="config.json — settings, no keys"/>
          <p:cNvSpPr/>
          <p:nvPr/>
        </p:nvSpPr>
        <p:spPr>
          <a:xfrm>
            <a:off x="731520" y="26974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8" name="config.json — settings, no keys label"/>
          <p:cNvSpPr txBox="1"/>
          <p:nvPr/>
        </p:nvSpPr>
        <p:spPr>
          <a:xfrm>
            <a:off x="73152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config.json — settings, no keys</a:t>
            </a:r>
            <a:endParaRPr lang="en-US" sz="1100" dirty="0"/>
          </a:p>
        </p:txBody>
      </p:sp>
      <p:sp>
        <p:nvSpPr>
          <p:cNvPr id="9" name="live.json · news.json"/>
          <p:cNvSpPr/>
          <p:nvPr/>
        </p:nvSpPr>
        <p:spPr>
          <a:xfrm>
            <a:off x="731520" y="35661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0" name="live.json · news.json label"/>
          <p:cNvSpPr txBox="1"/>
          <p:nvPr/>
        </p:nvSpPr>
        <p:spPr>
          <a:xfrm>
            <a:off x="73152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live.json · news.json</a:t>
            </a:r>
            <a:endParaRPr lang="en-US" sz="1100" dirty="0"/>
          </a:p>
        </p:txBody>
      </p:sp>
      <p:sp>
        <p:nvSpPr>
          <p:cNvPr id="11" name="journal.json — AES-256-GCM encrypted when JOURNAL_KEY is set"/>
          <p:cNvSpPr/>
          <p:nvPr/>
        </p:nvSpPr>
        <p:spPr>
          <a:xfrm>
            <a:off x="731520" y="44348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2" name="journal.json — AES-256-GCM encrypted when JOURNAL_KEY is set label"/>
          <p:cNvSpPr txBox="1"/>
          <p:nvPr/>
        </p:nvSpPr>
        <p:spPr>
          <a:xfrm>
            <a:off x="73152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journal.json — AES-256-GCM encrypted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when JOURNAL_KEY is set</a:t>
            </a:r>
            <a:endParaRPr lang="en-US" sz="1100" dirty="0"/>
          </a:p>
        </p:txBody>
      </p:sp>
      <p:sp>
        <p:nvSpPr>
          <p:cNvPr id="13" name="group Owner's browser only"/>
          <p:cNvSpPr/>
          <p:nvPr/>
        </p:nvSpPr>
        <p:spPr>
          <a:xfrm>
            <a:off x="4389120" y="1371600"/>
            <a:ext cx="347472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14" name="group title Owner&amp;apos;s browser only"/>
          <p:cNvSpPr txBox="1"/>
          <p:nvPr/>
        </p:nvSpPr>
        <p:spPr>
          <a:xfrm>
            <a:off x="448056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Owner's browser only</a:t>
            </a:r>
            <a:endParaRPr lang="en-US" sz="1100" dirty="0"/>
          </a:p>
        </p:txBody>
      </p:sp>
      <p:sp>
        <p:nvSpPr>
          <p:cNvPr id="15" name="GitHub fine-grained token"/>
          <p:cNvSpPr/>
          <p:nvPr/>
        </p:nvSpPr>
        <p:spPr>
          <a:xfrm>
            <a:off x="4572000" y="182880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6" name="GitHub fine-grained token label"/>
          <p:cNvSpPr txBox="1"/>
          <p:nvPr/>
        </p:nvSpPr>
        <p:spPr>
          <a:xfrm>
            <a:off x="4572000" y="182880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GitHub fine-grained token</a:t>
            </a:r>
            <a:endParaRPr lang="en-US" sz="1100" dirty="0"/>
          </a:p>
        </p:txBody>
      </p:sp>
      <p:sp>
        <p:nvSpPr>
          <p:cNvPr id="17" name="Journal passphrase"/>
          <p:cNvSpPr/>
          <p:nvPr/>
        </p:nvSpPr>
        <p:spPr>
          <a:xfrm>
            <a:off x="4572000" y="269748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18" name="Journal passphrase label"/>
          <p:cNvSpPr txBox="1"/>
          <p:nvPr/>
        </p:nvSpPr>
        <p:spPr>
          <a:xfrm>
            <a:off x="4572000" y="269748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Journal passphrase</a:t>
            </a:r>
            <a:endParaRPr lang="en-US" sz="1100" dirty="0"/>
          </a:p>
        </p:txBody>
      </p:sp>
      <p:sp>
        <p:nvSpPr>
          <p:cNvPr id="19" name="Finnhub / FMP keys"/>
          <p:cNvSpPr/>
          <p:nvPr/>
        </p:nvSpPr>
        <p:spPr>
          <a:xfrm>
            <a:off x="4572000" y="356616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0" name="Finnhub / FMP keys label"/>
          <p:cNvSpPr txBox="1"/>
          <p:nvPr/>
        </p:nvSpPr>
        <p:spPr>
          <a:xfrm>
            <a:off x="4572000" y="356616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Finnhub / FMP keys</a:t>
            </a:r>
            <a:endParaRPr lang="en-US" sz="1100" dirty="0"/>
          </a:p>
        </p:txBody>
      </p:sp>
      <p:sp>
        <p:nvSpPr>
          <p:cNvPr id="21" name="Watchlists, portfolios"/>
          <p:cNvSpPr/>
          <p:nvPr/>
        </p:nvSpPr>
        <p:spPr>
          <a:xfrm>
            <a:off x="4572000" y="4434840"/>
            <a:ext cx="3108960" cy="685800"/>
          </a:xfrm>
          <a:prstGeom prst="roundRect">
            <a:avLst>
              <a:gd name="adj" fmla="val 10667"/>
            </a:avLst>
          </a:prstGeom>
          <a:solidFill>
            <a:srgbClr val="ECEFF6"/>
          </a:solidFill>
          <a:ln w="12700">
            <a:solidFill>
              <a:srgbClr val="ECEFF6"/>
            </a:solidFill>
            <a:prstDash val="solid"/>
          </a:ln>
        </p:spPr>
        <p:txBody>
          <a:bodyPr/>
          <a:p/>
        </p:txBody>
      </p:sp>
      <p:sp>
        <p:nvSpPr>
          <p:cNvPr id="22" name="Watchlists, portfolios label"/>
          <p:cNvSpPr txBox="1"/>
          <p:nvPr/>
        </p:nvSpPr>
        <p:spPr>
          <a:xfrm>
            <a:off x="4572000" y="4434840"/>
            <a:ext cx="310896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2E"/>
                </a:solidFill>
              </a:rPr>
              <a:t>Watchlists, portfolios</a:t>
            </a:r>
            <a:endParaRPr lang="en-US" sz="1100" dirty="0"/>
          </a:p>
        </p:txBody>
      </p:sp>
      <p:sp>
        <p:nvSpPr>
          <p:cNvPr id="23" name="group GitHub encrypted secrets"/>
          <p:cNvSpPr/>
          <p:nvPr/>
        </p:nvSpPr>
        <p:spPr>
          <a:xfrm>
            <a:off x="8229600" y="1371600"/>
            <a:ext cx="33832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9D1DE"/>
            </a:solidFill>
            <a:prstDash val="dash"/>
          </a:ln>
        </p:spPr>
        <p:txBody>
          <a:bodyPr/>
          <a:p/>
        </p:txBody>
      </p:sp>
      <p:sp>
        <p:nvSpPr>
          <p:cNvPr id="24" name="group title GitHub encrypted secrets"/>
          <p:cNvSpPr txBox="1"/>
          <p:nvPr/>
        </p:nvSpPr>
        <p:spPr>
          <a:xfrm>
            <a:off x="8321040" y="14173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B6678"/>
                </a:solidFill>
              </a:rPr>
              <a:t>GitHub encrypted secrets</a:t>
            </a:r>
            <a:endParaRPr lang="en-US" sz="1100" dirty="0"/>
          </a:p>
        </p:txBody>
      </p:sp>
      <p:sp>
        <p:nvSpPr>
          <p:cNvPr id="25" name="ALPACA_KEY / SECRET — paper"/>
          <p:cNvSpPr/>
          <p:nvPr/>
        </p:nvSpPr>
        <p:spPr>
          <a:xfrm>
            <a:off x="8412480" y="182880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26" name="ALPACA_KEY / SECRET — paper label"/>
          <p:cNvSpPr txBox="1"/>
          <p:nvPr/>
        </p:nvSpPr>
        <p:spPr>
          <a:xfrm>
            <a:off x="8412480" y="1828800"/>
            <a:ext cx="3017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ALPACA_KEY / SECRET — paper</a:t>
            </a:r>
            <a:endParaRPr lang="en-US" sz="1100" dirty="0"/>
          </a:p>
        </p:txBody>
      </p:sp>
      <p:sp>
        <p:nvSpPr>
          <p:cNvPr id="27" name="ALPACA_LIVE_KEY / SECRET — live"/>
          <p:cNvSpPr/>
          <p:nvPr/>
        </p:nvSpPr>
        <p:spPr>
          <a:xfrm>
            <a:off x="8412480" y="269748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28" name="ALPACA_LIVE_KEY / SECRET — live label"/>
          <p:cNvSpPr txBox="1"/>
          <p:nvPr/>
        </p:nvSpPr>
        <p:spPr>
          <a:xfrm>
            <a:off x="8412480" y="2697480"/>
            <a:ext cx="3017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ALPACA_LIVE_KEY / SECRET — live</a:t>
            </a:r>
            <a:endParaRPr lang="en-US" sz="1100" dirty="0"/>
          </a:p>
        </p:txBody>
      </p:sp>
      <p:sp>
        <p:nvSpPr>
          <p:cNvPr id="29" name="JOURNAL_KEY"/>
          <p:cNvSpPr/>
          <p:nvPr/>
        </p:nvSpPr>
        <p:spPr>
          <a:xfrm>
            <a:off x="8412480" y="356616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30" name="JOURNAL_KEY label"/>
          <p:cNvSpPr txBox="1"/>
          <p:nvPr/>
        </p:nvSpPr>
        <p:spPr>
          <a:xfrm>
            <a:off x="8412480" y="3566160"/>
            <a:ext cx="3017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JOURNAL_KEY</a:t>
            </a:r>
            <a:endParaRPr lang="en-US" sz="1100" dirty="0"/>
          </a:p>
        </p:txBody>
      </p:sp>
      <p:sp>
        <p:nvSpPr>
          <p:cNvPr id="31" name="NTFY_TOPIC"/>
          <p:cNvSpPr/>
          <p:nvPr/>
        </p:nvSpPr>
        <p:spPr>
          <a:xfrm>
            <a:off x="8412480" y="4434840"/>
            <a:ext cx="3017520" cy="685800"/>
          </a:xfrm>
          <a:prstGeom prst="roundRect">
            <a:avLst>
              <a:gd name="adj" fmla="val 10667"/>
            </a:avLst>
          </a:prstGeom>
          <a:solidFill>
            <a:srgbClr val="17202E"/>
          </a:solidFill>
          <a:ln w="12700">
            <a:solidFill>
              <a:srgbClr val="17202E"/>
            </a:solidFill>
            <a:prstDash val="solid"/>
          </a:ln>
        </p:spPr>
        <p:txBody>
          <a:bodyPr/>
          <a:p/>
        </p:txBody>
      </p:sp>
      <p:sp>
        <p:nvSpPr>
          <p:cNvPr id="32" name="NTFY_TOPIC label"/>
          <p:cNvSpPr txBox="1"/>
          <p:nvPr/>
        </p:nvSpPr>
        <p:spPr>
          <a:xfrm>
            <a:off x="8412480" y="4434840"/>
            <a:ext cx="30175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TELEGRAM_*</a:t>
            </a:r>
            <a:endParaRPr lang="en-US" sz="1100" dirty="0"/>
          </a:p>
        </p:txBody>
      </p:sp>
      <p:sp>
        <p:nvSpPr>
          <p:cNvPr id="33" name="arrow sealed box"/>
          <p:cNvSpPr/>
          <p:nvPr/>
        </p:nvSpPr>
        <p:spPr>
          <a:xfrm>
            <a:off x="7680960" y="2194560"/>
            <a:ext cx="731520" cy="9144"/>
          </a:xfrm>
          <a:prstGeom prst="line">
            <a:avLst/>
          </a:prstGeom>
          <a:noFill/>
          <a:ln w="25400">
            <a:solidFill>
              <a:srgbClr val="0E7C86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34" name="label sealed box"/>
          <p:cNvSpPr txBox="1"/>
          <p:nvPr/>
        </p:nvSpPr>
        <p:spPr>
          <a:xfrm>
            <a:off x="7690104" y="2075688"/>
            <a:ext cx="713232" cy="27432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7C86"/>
                </a:solidFill>
              </a:rPr>
              <a:t>sealed box</a:t>
            </a:r>
            <a:endParaRPr lang="en-US" sz="900" dirty="0"/>
          </a:p>
        </p:txBody>
      </p:sp>
      <p:sp>
        <p:nvSpPr>
          <p:cNvPr id="35" name="sec notes"/>
          <p:cNvSpPr txBox="1"/>
          <p:nvPr/>
        </p:nvSpPr>
        <p:spPr>
          <a:xfrm>
            <a:off x="548640" y="57150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678"/>
                </a:solidFill>
              </a:rPr>
              <a:t>Live trading needs live keys + Mode = Live + a typed confirmation. API keys can trade but not withdraw. Only third-party script is hash-pinned; Actions pinned to commit SHAs; zero npm dependencies. Owner checklist in SECURITY.md: 2FA everywhere, sole collaborator, 90-day token, Telegram via the page only, never paste keys.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200" b="1" dirty="0">
                <a:solidFill>
                  <a:srgbClr val="17202E"/>
                </a:solidFill>
              </a:rPr>
              <a:t>Operations — scheduled jobs and the runbook</a:t>
            </a:r>
            <a:endParaRPr lang="en-US" sz="3200" dirty="0"/>
          </a:p>
        </p:txBody>
      </p:sp>
      <p:graphicFrame>
        <p:nvGraphicFramePr>
          <p:cNvPr id="11" name="workflow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931920"/>
                <a:gridCol w="47548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Workflow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Trigger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What it does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02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refresh-prices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every 10 min (US) / 15 min (India), market days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fetch.mjs → live.json; news.mjs → news.json; commit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paper-trade-bot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every 5 min cron 13–21 UTC, one session at a time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bot/live.mjs for up to 345 min; stops if bot/STOP exists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strategy-research · backtest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manual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research.mjs / backtest.mjs → JSON + markdown reports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bot-tests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every push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02E"/>
                          </a:solidFill>
                        </a:rPr>
                        <a:t>node bot/test.mjs (29 tests)</a:t>
                      </a:r>
                      <a:endParaRPr lang="en-US" sz="1200" dirty="0"/>
                    </a:p>
                  </a:txBody>
                  <a:tcPr marL="54864" marR="54864" marT="54864" marB="54864">
                    <a:lnL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op Setup, 20 min"/>
          <p:cNvSpPr txBox="1"/>
          <p:nvPr/>
        </p:nvSpPr>
        <p:spPr>
          <a:xfrm>
            <a:off x="54864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Setup, 20 min</a:t>
            </a:r>
            <a:endParaRPr lang="en-US" sz="1400" dirty="0"/>
          </a:p>
        </p:txBody>
      </p:sp>
      <p:sp>
        <p:nvSpPr>
          <p:cNvPr id="5" name="op t Setup, 20 min"/>
          <p:cNvSpPr txBox="1"/>
          <p:nvPr/>
        </p:nvSpPr>
        <p:spPr>
          <a:xfrm>
            <a:off x="548640" y="4434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</a:rPr>
              <a:t>Alpaca paper keys → fine-grained token → Bot settings: connect, keys, risk profile, passphrase → enable workflows → 2FA</a:t>
            </a:r>
            <a:endParaRPr lang="en-US" sz="1150" dirty="0"/>
          </a:p>
        </p:txBody>
      </p:sp>
      <p:sp>
        <p:nvSpPr>
          <p:cNvPr id="6" name="op Day to day"/>
          <p:cNvSpPr txBox="1"/>
          <p:nvPr/>
        </p:nvSpPr>
        <p:spPr>
          <a:xfrm>
            <a:off x="6172200" y="41148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Day to day</a:t>
            </a:r>
            <a:endParaRPr lang="en-US" sz="1400" dirty="0"/>
          </a:p>
        </p:txBody>
      </p:sp>
      <p:sp>
        <p:nvSpPr>
          <p:cNvPr id="7" name="op t Day to day"/>
          <p:cNvSpPr txBox="1"/>
          <p:nvPr/>
        </p:nvSpPr>
        <p:spPr>
          <a:xfrm>
            <a:off x="6172200" y="443484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</a:rPr>
              <a:t>Bot trades tab for P/L and risk · Bot settings to change anything (live in 60 s) · Pause / Resume / Run now · Telegram alerts on the phone</a:t>
            </a:r>
            <a:endParaRPr lang="en-US" sz="1150" dirty="0"/>
          </a:p>
        </p:txBody>
      </p:sp>
      <p:sp>
        <p:nvSpPr>
          <p:cNvPr id="8" name="op Going live"/>
          <p:cNvSpPr txBox="1"/>
          <p:nvPr/>
        </p:nvSpPr>
        <p:spPr>
          <a:xfrm>
            <a:off x="54864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Going live</a:t>
            </a:r>
            <a:endParaRPr lang="en-US" sz="1400" dirty="0"/>
          </a:p>
        </p:txBody>
      </p:sp>
      <p:sp>
        <p:nvSpPr>
          <p:cNvPr id="9" name="op t Going live"/>
          <p:cNvSpPr txBox="1"/>
          <p:nvPr/>
        </p:nvSpPr>
        <p:spPr>
          <a:xfrm>
            <a:off x="548640" y="5532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</a:rPr>
              <a:t>After 2–3 months of paper: add live keys, Mode = Live, typed confirmation, lower risk profile. Mind PDT (&lt; $25k), slippage, gaps, taxes</a:t>
            </a:r>
            <a:endParaRPr lang="en-US" sz="1150" dirty="0"/>
          </a:p>
        </p:txBody>
      </p:sp>
      <p:sp>
        <p:nvSpPr>
          <p:cNvPr id="10" name="op Nothing to keep on"/>
          <p:cNvSpPr txBox="1"/>
          <p:nvPr/>
        </p:nvSpPr>
        <p:spPr>
          <a:xfrm>
            <a:off x="6172200" y="5212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</a:rPr>
              <a:t>Nothing to keep on</a:t>
            </a:r>
            <a:endParaRPr lang="en-US" sz="1400" dirty="0"/>
          </a:p>
        </p:txBody>
      </p:sp>
      <p:sp>
        <p:nvSpPr>
          <p:cNvPr id="11" name="op t Nothing to keep on"/>
          <p:cNvSpPr txBox="1"/>
          <p:nvPr/>
        </p:nvSpPr>
        <p:spPr>
          <a:xfrm>
            <a:off x="6172200" y="553212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7202E"/>
                </a:solidFill>
              </a:rPr>
              <a:t>The bot runs on GitHub's servers. Laptop off, page closed — it keeps trading.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67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194560"/>
            <a:ext cx="1088136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Kept current with every change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566160"/>
            <a:ext cx="10881360" cy="1463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2000" dirty="0">
                <a:solidFill>
                  <a:srgbClr val="CADCE6"/>
                </a:solidFill>
              </a:rPr>
              <a:t>docs/ARCHITECTURE.md — source of truth · docs/index.html — the same as a web page (/docs/) · docs/architecture.pptx — these slides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CADCE6"/>
                </a:solidFill>
              </a:rPr>
              <a:t>Every change to the site, the bot or the workflows updates all three in the same commit. Not financial advice.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gnal Desk">
  <a:themeElements>
    <a:clrScheme name="Signal Desk">
      <a:dk1>
        <a:srgbClr val="17202E"/>
      </a:dk1>
      <a:lt1>
        <a:srgbClr val="FFFFFF"/>
      </a:lt1>
      <a:dk2>
        <a:srgbClr val="0E7C86"/>
      </a:dk2>
      <a:lt2>
        <a:srgbClr val="ECEFF6"/>
      </a:lt2>
      <a:accent1>
        <a:srgbClr val="0E7C86"/>
      </a:accent1>
      <a:accent2>
        <a:srgbClr val="17202E"/>
      </a:accent2>
      <a:accent3>
        <a:srgbClr val="4FC3CC"/>
      </a:accent3>
      <a:accent4>
        <a:srgbClr val="C9A227"/>
      </a:accent4>
      <a:accent5>
        <a:srgbClr val="B23A48"/>
      </a:accent5>
      <a:accent6>
        <a:srgbClr val="5B6678"/>
      </a:accent6>
      <a:hlink>
        <a:srgbClr val="0E7C86"/>
      </a:hlink>
      <a:folHlink>
        <a:srgbClr val="5B6678"/>
      </a:folHlink>
    </a:clrScheme>
    <a:fontScheme name="Signal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Signal Desk architecture</dc:title>
  <dc:subject>PptxGenJS Presentation</dc:subject>
  <dc:creator>Signal Desk docs</dc:creator>
  <cp:lastModifiedBy>Signal Desk docs</cp:lastModifiedBy>
  <cp:revision>1</cp:revision>
  <dcterms:created xsi:type="dcterms:W3CDTF">2026-10-22T02:08:55Z</dcterms:created>
  <dcterms:modified xsi:type="dcterms:W3CDTF">2026-10-22T02:08:55Z</dcterms:modified>
</cp:coreProperties>
</file>